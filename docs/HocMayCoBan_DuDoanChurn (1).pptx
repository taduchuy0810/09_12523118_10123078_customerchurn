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C7293">
              <a:alpha val="22000"/>
            </a:srgbClr>
          </a:solidFill>
          <a:ln/>
        </p:spPr>
      </p:sp>
      <p:sp>
        <p:nvSpPr>
          <p:cNvPr id="3" name="Shape 1"/>
          <p:cNvSpPr/>
          <p:nvPr/>
        </p:nvSpPr>
        <p:spPr>
          <a:xfrm>
            <a:off x="10332720" y="3291840"/>
            <a:ext cx="3840480" cy="3840480"/>
          </a:xfrm>
          <a:prstGeom prst="ellipse">
            <a:avLst/>
          </a:prstGeom>
          <a:solidFill>
            <a:srgbClr val="E4572E">
              <a:alpha val="18000"/>
            </a:srgbClr>
          </a:solidFill>
          <a:ln/>
        </p:spPr>
      </p:sp>
      <p:sp>
        <p:nvSpPr>
          <p:cNvPr id="4" name="Shape 2"/>
          <p:cNvSpPr/>
          <p:nvPr/>
        </p:nvSpPr>
        <p:spPr>
          <a:xfrm>
            <a:off x="10561320" y="457200"/>
            <a:ext cx="1234440" cy="1234440"/>
          </a:xfrm>
          <a:prstGeom prst="roundRect">
            <a:avLst>
              <a:gd name="adj" fmla="val 7407"/>
            </a:avLst>
          </a:prstGeom>
          <a:solidFill>
            <a:srgbClr val="FFFFFF"/>
          </a:solidFill>
          <a:ln/>
        </p:spPr>
      </p:sp>
      <p:pic>
        <p:nvPicPr>
          <p:cNvPr id="5" name="Image 0" descr="assets/logo.png">    </p:cNvPr>
          <p:cNvPicPr>
            <a:picLocks noChangeAspect="1"/>
          </p:cNvPicPr>
          <p:nvPr/>
        </p:nvPicPr>
        <p:blipFill>
          <a:blip r:embed="rId1"/>
          <a:stretch>
            <a:fillRect/>
          </a:stretch>
        </p:blipFill>
        <p:spPr>
          <a:xfrm>
            <a:off x="10716768" y="576072"/>
            <a:ext cx="923544" cy="996696"/>
          </a:xfrm>
          <a:prstGeom prst="rect">
            <a:avLst/>
          </a:prstGeom>
        </p:spPr>
      </p:pic>
      <p:sp>
        <p:nvSpPr>
          <p:cNvPr id="6" name="Text 3"/>
          <p:cNvSpPr txBox="1"/>
          <p:nvPr/>
        </p:nvSpPr>
        <p:spPr>
          <a:xfrm>
            <a:off x="822960" y="1783080"/>
            <a:ext cx="8686800" cy="411480"/>
          </a:xfrm>
          <a:prstGeom prst="rect">
            <a:avLst/>
          </a:prstGeom>
          <a:noFill/>
          <a:ln/>
        </p:spPr>
        <p:txBody>
          <a:bodyPr wrap="square" lIns="0" tIns="0" rIns="0" bIns="0" rtlCol="0" anchor="ctr"/>
          <a:lstStyle/>
          <a:p>
            <a:pPr indent="0" marL="0">
              <a:buNone/>
            </a:pPr>
            <a:r>
              <a:rPr lang="en-US" sz="1400" b="1" spc="200" kern="0" dirty="0">
                <a:solidFill>
                  <a:srgbClr val="9FD7E8"/>
                </a:solidFill>
                <a:latin typeface="Calibri" pitchFamily="34" charset="0"/>
                <a:ea typeface="Calibri" pitchFamily="34" charset="-122"/>
                <a:cs typeface="Calibri" pitchFamily="34" charset="-120"/>
              </a:rPr>
              <a:t>BÀI TẬP LỚN  •  HỌC MÁY CƠ BẢN</a:t>
            </a:r>
            <a:endParaRPr lang="en-US" sz="1400" dirty="0"/>
          </a:p>
        </p:txBody>
      </p:sp>
      <p:sp>
        <p:nvSpPr>
          <p:cNvPr id="7" name="Text 4"/>
          <p:cNvSpPr txBox="1"/>
          <p:nvPr/>
        </p:nvSpPr>
        <p:spPr>
          <a:xfrm>
            <a:off x="822960" y="2194560"/>
            <a:ext cx="987552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DỰ ĐOÁN KHÁCH HÀNG</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RỜI BỎ NHÀ MẠNG</a:t>
            </a:r>
            <a:endParaRPr lang="en-US" sz="4400" dirty="0"/>
          </a:p>
        </p:txBody>
      </p:sp>
      <p:sp>
        <p:nvSpPr>
          <p:cNvPr id="8" name="Text 5"/>
          <p:cNvSpPr txBox="1"/>
          <p:nvPr/>
        </p:nvSpPr>
        <p:spPr>
          <a:xfrm>
            <a:off x="841248" y="3794760"/>
            <a:ext cx="896112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Xây dựng mô hình phân loại Churn / No Churn trên bộ dữ liệu Telco Customer Churn Dataset</a:t>
            </a:r>
            <a:endParaRPr lang="en-US" sz="1500" dirty="0"/>
          </a:p>
        </p:txBody>
      </p:sp>
      <p:sp>
        <p:nvSpPr>
          <p:cNvPr id="9" name="Shape 6"/>
          <p:cNvSpPr/>
          <p:nvPr/>
        </p:nvSpPr>
        <p:spPr>
          <a:xfrm>
            <a:off x="841248" y="4434840"/>
            <a:ext cx="5120640" cy="0"/>
          </a:xfrm>
          <a:prstGeom prst="line">
            <a:avLst/>
          </a:prstGeom>
          <a:noFill/>
          <a:ln w="12700">
            <a:solidFill>
              <a:srgbClr val="3E7089"/>
            </a:solidFill>
            <a:prstDash val="solid"/>
          </a:ln>
        </p:spPr>
      </p:sp>
      <p:sp>
        <p:nvSpPr>
          <p:cNvPr id="10" name="Text 7"/>
          <p:cNvSpPr txBox="1"/>
          <p:nvPr/>
        </p:nvSpPr>
        <p:spPr>
          <a:xfrm>
            <a:off x="841248" y="4617720"/>
            <a:ext cx="7772400" cy="640080"/>
          </a:xfrm>
          <a:prstGeom prst="rect">
            <a:avLst/>
          </a:prstGeom>
          <a:noFill/>
          <a:ln/>
        </p:spPr>
        <p:txBody>
          <a:bodyPr wrap="square" lIns="0" tIns="0" rIns="0" bIns="0" rtlCol="0" anchor="ctr"/>
          <a:lstStyle/>
          <a:p>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Trường Đại học Sư phạm Kỹ thuật Hưng Yên</a:t>
            </a:r>
            <a:endParaRPr lang="en-US" sz="1300" dirty="0"/>
          </a:p>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Khoa Công nghệ Thông tin  •  Ngành Kỹ thuật phần mềm</a:t>
            </a:r>
            <a:endParaRPr lang="en-US" sz="1300" dirty="0"/>
          </a:p>
        </p:txBody>
      </p:sp>
      <p:sp>
        <p:nvSpPr>
          <p:cNvPr id="11" name="Text 8"/>
          <p:cNvSpPr txBox="1"/>
          <p:nvPr/>
        </p:nvSpPr>
        <p:spPr>
          <a:xfrm>
            <a:off x="841248" y="5440680"/>
            <a:ext cx="7772400" cy="320040"/>
          </a:xfrm>
          <a:prstGeom prst="rect">
            <a:avLst/>
          </a:prstGeom>
          <a:noFill/>
          <a:ln/>
        </p:spPr>
        <p:txBody>
          <a:bodyPr wrap="square" lIns="0" tIns="0" rIns="0" bIns="0" rtlCol="0" anchor="ctr"/>
          <a:lstStyle/>
          <a:p>
            <a:pPr indent="0" marL="0">
              <a:buNone/>
            </a:pPr>
            <a:r>
              <a:rPr lang="en-US" sz="1300" b="1" dirty="0">
                <a:solidFill>
                  <a:srgbClr val="9FD7E8"/>
                </a:solidFill>
                <a:latin typeface="Calibri" pitchFamily="34" charset="0"/>
                <a:ea typeface="Calibri" pitchFamily="34" charset="-122"/>
                <a:cs typeface="Calibri" pitchFamily="34" charset="-120"/>
              </a:rPr>
              <a:t>Sinh viên thực hiện:  </a:t>
            </a:r>
            <a:pPr indent="0" marL="0">
              <a:buNone/>
            </a:pPr>
            <a:r>
              <a:rPr lang="en-US" sz="1300" dirty="0">
                <a:solidFill>
                  <a:srgbClr val="FFFFFF"/>
                </a:solidFill>
                <a:latin typeface="Calibri" pitchFamily="34" charset="0"/>
                <a:ea typeface="Calibri" pitchFamily="34" charset="-122"/>
                <a:cs typeface="Calibri" pitchFamily="34" charset="-120"/>
              </a:rPr>
              <a:t>Tạ Đức Huy — Trần Công Đàm</a:t>
            </a:r>
            <a:endParaRPr lang="en-US" sz="1300" dirty="0"/>
          </a:p>
        </p:txBody>
      </p:sp>
      <p:sp>
        <p:nvSpPr>
          <p:cNvPr id="12" name="Text 9"/>
          <p:cNvSpPr txBox="1"/>
          <p:nvPr/>
        </p:nvSpPr>
        <p:spPr>
          <a:xfrm>
            <a:off x="841248" y="5760720"/>
            <a:ext cx="86868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Mã lớp: 12523W.2      </a:t>
            </a:r>
            <a:pPr indent="0" marL="0">
              <a:buNone/>
            </a:pPr>
            <a:r>
              <a:rPr lang="en-US" sz="1200" dirty="0">
                <a:solidFill>
                  <a:srgbClr val="CADCFC"/>
                </a:solidFill>
                <a:latin typeface="Calibri" pitchFamily="34" charset="0"/>
                <a:ea typeface="Calibri" pitchFamily="34" charset="-122"/>
                <a:cs typeface="Calibri" pitchFamily="34" charset="-120"/>
              </a:rPr>
              <a:t>GVHD: ThS. Nguyễn Đức Tuấn Anh</a:t>
            </a:r>
            <a:endParaRPr lang="en-US" sz="1200" dirty="0"/>
          </a:p>
        </p:txBody>
      </p:sp>
      <p:sp>
        <p:nvSpPr>
          <p:cNvPr id="13" name="Text 10"/>
          <p:cNvSpPr txBox="1"/>
          <p:nvPr/>
        </p:nvSpPr>
        <p:spPr>
          <a:xfrm>
            <a:off x="841248" y="6263640"/>
            <a:ext cx="4572000" cy="274320"/>
          </a:xfrm>
          <a:prstGeom prst="rect">
            <a:avLst/>
          </a:prstGeom>
          <a:noFill/>
          <a:ln/>
        </p:spPr>
        <p:txBody>
          <a:bodyPr wrap="square" lIns="0" tIns="0" rIns="0" bIns="0" rtlCol="0" anchor="ctr"/>
          <a:lstStyle/>
          <a:p>
            <a:pPr indent="0" marL="0">
              <a:buNone/>
            </a:pPr>
            <a:r>
              <a:rPr lang="en-US" sz="1100" b="1" spc="200" kern="0" dirty="0">
                <a:solidFill>
                  <a:srgbClr val="6FA9C2"/>
                </a:solidFill>
                <a:latin typeface="Calibri" pitchFamily="34" charset="0"/>
                <a:ea typeface="Calibri" pitchFamily="34" charset="-122"/>
                <a:cs typeface="Calibri" pitchFamily="34" charset="-120"/>
              </a:rPr>
              <a:t>HƯNG YÊN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NỘI DUNG TRÌNH BÀY</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Bố cục báo cáo</a:t>
            </a:r>
            <a:endParaRPr lang="en-US" sz="3000" dirty="0"/>
          </a:p>
        </p:txBody>
      </p:sp>
      <p:sp>
        <p:nvSpPr>
          <p:cNvPr id="5" name="Shape 3"/>
          <p:cNvSpPr/>
          <p:nvPr/>
        </p:nvSpPr>
        <p:spPr>
          <a:xfrm>
            <a:off x="457200" y="1965960"/>
            <a:ext cx="5440680" cy="1417320"/>
          </a:xfrm>
          <a:prstGeom prst="roundRect">
            <a:avLst>
              <a:gd name="adj" fmla="val 5161"/>
            </a:avLst>
          </a:prstGeom>
          <a:solidFill>
            <a:srgbClr val="F3F7FA"/>
          </a:solidFill>
          <a:ln/>
        </p:spPr>
      </p:sp>
      <p:sp>
        <p:nvSpPr>
          <p:cNvPr id="6" name="Text 4"/>
          <p:cNvSpPr txBox="1"/>
          <p:nvPr/>
        </p:nvSpPr>
        <p:spPr>
          <a:xfrm>
            <a:off x="685800" y="2130552"/>
            <a:ext cx="1005840" cy="1005840"/>
          </a:xfrm>
          <a:prstGeom prst="rect">
            <a:avLst/>
          </a:prstGeom>
          <a:noFill/>
          <a:ln/>
        </p:spPr>
        <p:txBody>
          <a:bodyPr wrap="square" lIns="0" tIns="0" rIns="0" bIns="0" rtlCol="0" anchor="ctr"/>
          <a:lstStyle/>
          <a:p>
            <a:pPr indent="0" marL="0">
              <a:buNone/>
            </a:pPr>
            <a:r>
              <a:rPr lang="en-US" sz="3400" b="1" dirty="0">
                <a:solidFill>
                  <a:srgbClr val="C9D9E3"/>
                </a:solidFill>
                <a:latin typeface="Cambria" pitchFamily="34" charset="0"/>
                <a:ea typeface="Cambria" pitchFamily="34" charset="-122"/>
                <a:cs typeface="Cambria" pitchFamily="34" charset="-120"/>
              </a:rPr>
              <a:t>01</a:t>
            </a:r>
            <a:endParaRPr lang="en-US" sz="3400" dirty="0"/>
          </a:p>
        </p:txBody>
      </p:sp>
      <p:sp>
        <p:nvSpPr>
          <p:cNvPr id="7" name="Text 5"/>
          <p:cNvSpPr txBox="1"/>
          <p:nvPr/>
        </p:nvSpPr>
        <p:spPr>
          <a:xfrm>
            <a:off x="1600200" y="2167128"/>
            <a:ext cx="4069080" cy="502920"/>
          </a:xfrm>
          <a:prstGeom prst="rect">
            <a:avLst/>
          </a:prstGeom>
          <a:noFill/>
          <a:ln/>
        </p:spPr>
        <p:txBody>
          <a:bodyPr wrap="square" lIns="0" tIns="0" rIns="0" bIns="0" rtlCol="0" anchor="t"/>
          <a:lstStyle/>
          <a:p>
            <a:pPr indent="0" marL="0">
              <a:buNone/>
            </a:pPr>
            <a:r>
              <a:rPr lang="en-US" sz="1500" b="1" dirty="0">
                <a:solidFill>
                  <a:srgbClr val="0B3D5C"/>
                </a:solidFill>
                <a:latin typeface="Calibri" pitchFamily="34" charset="0"/>
                <a:ea typeface="Calibri" pitchFamily="34" charset="-122"/>
                <a:cs typeface="Calibri" pitchFamily="34" charset="-120"/>
              </a:rPr>
              <a:t>Tổng quan bài toán &amp; cơ sở lý thuyết</a:t>
            </a:r>
            <a:endParaRPr lang="en-US" sz="1500" dirty="0"/>
          </a:p>
        </p:txBody>
      </p:sp>
      <p:sp>
        <p:nvSpPr>
          <p:cNvPr id="8" name="Text 6"/>
          <p:cNvSpPr txBox="1"/>
          <p:nvPr/>
        </p:nvSpPr>
        <p:spPr>
          <a:xfrm>
            <a:off x="1600200" y="2679192"/>
            <a:ext cx="4069080" cy="548640"/>
          </a:xfrm>
          <a:prstGeom prst="rect">
            <a:avLst/>
          </a:prstGeom>
          <a:noFill/>
          <a:ln/>
        </p:spPr>
        <p:txBody>
          <a:bodyPr wrap="square" lIns="0" tIns="0" rIns="0" bIns="0" rtlCol="0" anchor="t"/>
          <a:lstStyle/>
          <a:p>
            <a:pPr indent="0" marL="0">
              <a:buNone/>
            </a:pPr>
            <a:r>
              <a:rPr lang="en-US" sz="1150" dirty="0">
                <a:solidFill>
                  <a:srgbClr val="5B6B78"/>
                </a:solidFill>
                <a:latin typeface="Calibri" pitchFamily="34" charset="0"/>
                <a:ea typeface="Calibri" pitchFamily="34" charset="-122"/>
                <a:cs typeface="Calibri" pitchFamily="34" charset="-120"/>
              </a:rPr>
              <a:t>Đặt vấn đề, dữ liệu, bài toán phân loại</a:t>
            </a:r>
            <a:endParaRPr lang="en-US" sz="1150" dirty="0"/>
          </a:p>
        </p:txBody>
      </p:sp>
      <p:sp>
        <p:nvSpPr>
          <p:cNvPr id="9" name="Shape 7"/>
          <p:cNvSpPr/>
          <p:nvPr/>
        </p:nvSpPr>
        <p:spPr>
          <a:xfrm>
            <a:off x="6263640" y="1965960"/>
            <a:ext cx="5440680" cy="1417320"/>
          </a:xfrm>
          <a:prstGeom prst="roundRect">
            <a:avLst>
              <a:gd name="adj" fmla="val 5161"/>
            </a:avLst>
          </a:prstGeom>
          <a:solidFill>
            <a:srgbClr val="F3F7FA"/>
          </a:solidFill>
          <a:ln/>
        </p:spPr>
      </p:sp>
      <p:sp>
        <p:nvSpPr>
          <p:cNvPr id="10" name="Text 8"/>
          <p:cNvSpPr txBox="1"/>
          <p:nvPr/>
        </p:nvSpPr>
        <p:spPr>
          <a:xfrm>
            <a:off x="6492240" y="2130552"/>
            <a:ext cx="1005840" cy="1005840"/>
          </a:xfrm>
          <a:prstGeom prst="rect">
            <a:avLst/>
          </a:prstGeom>
          <a:noFill/>
          <a:ln/>
        </p:spPr>
        <p:txBody>
          <a:bodyPr wrap="square" lIns="0" tIns="0" rIns="0" bIns="0" rtlCol="0" anchor="ctr"/>
          <a:lstStyle/>
          <a:p>
            <a:pPr indent="0" marL="0">
              <a:buNone/>
            </a:pPr>
            <a:r>
              <a:rPr lang="en-US" sz="3400" b="1" dirty="0">
                <a:solidFill>
                  <a:srgbClr val="C9D9E3"/>
                </a:solidFill>
                <a:latin typeface="Cambria" pitchFamily="34" charset="0"/>
                <a:ea typeface="Cambria" pitchFamily="34" charset="-122"/>
                <a:cs typeface="Cambria" pitchFamily="34" charset="-120"/>
              </a:rPr>
              <a:t>02</a:t>
            </a:r>
            <a:endParaRPr lang="en-US" sz="3400" dirty="0"/>
          </a:p>
        </p:txBody>
      </p:sp>
      <p:sp>
        <p:nvSpPr>
          <p:cNvPr id="11" name="Text 9"/>
          <p:cNvSpPr txBox="1"/>
          <p:nvPr/>
        </p:nvSpPr>
        <p:spPr>
          <a:xfrm>
            <a:off x="7406640" y="2167128"/>
            <a:ext cx="4069080" cy="502920"/>
          </a:xfrm>
          <a:prstGeom prst="rect">
            <a:avLst/>
          </a:prstGeom>
          <a:noFill/>
          <a:ln/>
        </p:spPr>
        <p:txBody>
          <a:bodyPr wrap="square" lIns="0" tIns="0" rIns="0" bIns="0" rtlCol="0" anchor="t"/>
          <a:lstStyle/>
          <a:p>
            <a:pPr indent="0" marL="0">
              <a:buNone/>
            </a:pPr>
            <a:r>
              <a:rPr lang="en-US" sz="1500" b="1" dirty="0">
                <a:solidFill>
                  <a:srgbClr val="0B3D5C"/>
                </a:solidFill>
                <a:latin typeface="Calibri" pitchFamily="34" charset="0"/>
                <a:ea typeface="Calibri" pitchFamily="34" charset="-122"/>
                <a:cs typeface="Calibri" pitchFamily="34" charset="-120"/>
              </a:rPr>
              <a:t>Giới thiệu tập dữ liệu</a:t>
            </a:r>
            <a:endParaRPr lang="en-US" sz="1500" dirty="0"/>
          </a:p>
        </p:txBody>
      </p:sp>
      <p:sp>
        <p:nvSpPr>
          <p:cNvPr id="12" name="Text 10"/>
          <p:cNvSpPr txBox="1"/>
          <p:nvPr/>
        </p:nvSpPr>
        <p:spPr>
          <a:xfrm>
            <a:off x="7406640" y="2679192"/>
            <a:ext cx="4069080" cy="548640"/>
          </a:xfrm>
          <a:prstGeom prst="rect">
            <a:avLst/>
          </a:prstGeom>
          <a:noFill/>
          <a:ln/>
        </p:spPr>
        <p:txBody>
          <a:bodyPr wrap="square" lIns="0" tIns="0" rIns="0" bIns="0" rtlCol="0" anchor="t"/>
          <a:lstStyle/>
          <a:p>
            <a:pPr indent="0" marL="0">
              <a:buNone/>
            </a:pPr>
            <a:r>
              <a:rPr lang="en-US" sz="1150" dirty="0">
                <a:solidFill>
                  <a:srgbClr val="5B6B78"/>
                </a:solidFill>
                <a:latin typeface="Calibri" pitchFamily="34" charset="0"/>
                <a:ea typeface="Calibri" pitchFamily="34" charset="-122"/>
                <a:cs typeface="Calibri" pitchFamily="34" charset="-120"/>
              </a:rPr>
              <a:t>Telco Customer Churn Dataset</a:t>
            </a:r>
            <a:endParaRPr lang="en-US" sz="1150" dirty="0"/>
          </a:p>
        </p:txBody>
      </p:sp>
      <p:sp>
        <p:nvSpPr>
          <p:cNvPr id="13" name="Shape 11"/>
          <p:cNvSpPr/>
          <p:nvPr/>
        </p:nvSpPr>
        <p:spPr>
          <a:xfrm>
            <a:off x="457200" y="3520440"/>
            <a:ext cx="5440680" cy="1417320"/>
          </a:xfrm>
          <a:prstGeom prst="roundRect">
            <a:avLst>
              <a:gd name="adj" fmla="val 5161"/>
            </a:avLst>
          </a:prstGeom>
          <a:solidFill>
            <a:srgbClr val="F3F7FA"/>
          </a:solidFill>
          <a:ln/>
        </p:spPr>
      </p:sp>
      <p:sp>
        <p:nvSpPr>
          <p:cNvPr id="14" name="Text 12"/>
          <p:cNvSpPr txBox="1"/>
          <p:nvPr/>
        </p:nvSpPr>
        <p:spPr>
          <a:xfrm>
            <a:off x="685800" y="3685032"/>
            <a:ext cx="1005840" cy="1005840"/>
          </a:xfrm>
          <a:prstGeom prst="rect">
            <a:avLst/>
          </a:prstGeom>
          <a:noFill/>
          <a:ln/>
        </p:spPr>
        <p:txBody>
          <a:bodyPr wrap="square" lIns="0" tIns="0" rIns="0" bIns="0" rtlCol="0" anchor="ctr"/>
          <a:lstStyle/>
          <a:p>
            <a:pPr indent="0" marL="0">
              <a:buNone/>
            </a:pPr>
            <a:r>
              <a:rPr lang="en-US" sz="3400" b="1" dirty="0">
                <a:solidFill>
                  <a:srgbClr val="C9D9E3"/>
                </a:solidFill>
                <a:latin typeface="Cambria" pitchFamily="34" charset="0"/>
                <a:ea typeface="Cambria" pitchFamily="34" charset="-122"/>
                <a:cs typeface="Cambria" pitchFamily="34" charset="-120"/>
              </a:rPr>
              <a:t>03</a:t>
            </a:r>
            <a:endParaRPr lang="en-US" sz="3400" dirty="0"/>
          </a:p>
        </p:txBody>
      </p:sp>
      <p:sp>
        <p:nvSpPr>
          <p:cNvPr id="15" name="Text 13"/>
          <p:cNvSpPr txBox="1"/>
          <p:nvPr/>
        </p:nvSpPr>
        <p:spPr>
          <a:xfrm>
            <a:off x="1600200" y="3721608"/>
            <a:ext cx="4069080" cy="502920"/>
          </a:xfrm>
          <a:prstGeom prst="rect">
            <a:avLst/>
          </a:prstGeom>
          <a:noFill/>
          <a:ln/>
        </p:spPr>
        <p:txBody>
          <a:bodyPr wrap="square" lIns="0" tIns="0" rIns="0" bIns="0" rtlCol="0" anchor="t"/>
          <a:lstStyle/>
          <a:p>
            <a:pPr indent="0" marL="0">
              <a:buNone/>
            </a:pPr>
            <a:r>
              <a:rPr lang="en-US" sz="1500" b="1" dirty="0">
                <a:solidFill>
                  <a:srgbClr val="0B3D5C"/>
                </a:solidFill>
                <a:latin typeface="Calibri" pitchFamily="34" charset="0"/>
                <a:ea typeface="Calibri" pitchFamily="34" charset="-122"/>
                <a:cs typeface="Calibri" pitchFamily="34" charset="-120"/>
              </a:rPr>
              <a:t>Phân tích khám phá dữ liệu (EDA)</a:t>
            </a:r>
            <a:endParaRPr lang="en-US" sz="1500" dirty="0"/>
          </a:p>
        </p:txBody>
      </p:sp>
      <p:sp>
        <p:nvSpPr>
          <p:cNvPr id="16" name="Text 14"/>
          <p:cNvSpPr txBox="1"/>
          <p:nvPr/>
        </p:nvSpPr>
        <p:spPr>
          <a:xfrm>
            <a:off x="1600200" y="4233672"/>
            <a:ext cx="4069080" cy="548640"/>
          </a:xfrm>
          <a:prstGeom prst="rect">
            <a:avLst/>
          </a:prstGeom>
          <a:noFill/>
          <a:ln/>
        </p:spPr>
        <p:txBody>
          <a:bodyPr wrap="square" lIns="0" tIns="0" rIns="0" bIns="0" rtlCol="0" anchor="t"/>
          <a:lstStyle/>
          <a:p>
            <a:pPr indent="0" marL="0">
              <a:buNone/>
            </a:pPr>
            <a:r>
              <a:rPr lang="en-US" sz="1150" dirty="0">
                <a:solidFill>
                  <a:srgbClr val="5B6B78"/>
                </a:solidFill>
                <a:latin typeface="Calibri" pitchFamily="34" charset="0"/>
                <a:ea typeface="Calibri" pitchFamily="34" charset="-122"/>
                <a:cs typeface="Calibri" pitchFamily="34" charset="-120"/>
              </a:rPr>
              <a:t>Thống kê mô tả &amp; trực quan hóa</a:t>
            </a:r>
            <a:endParaRPr lang="en-US" sz="1150" dirty="0"/>
          </a:p>
        </p:txBody>
      </p:sp>
      <p:sp>
        <p:nvSpPr>
          <p:cNvPr id="17" name="Shape 15"/>
          <p:cNvSpPr/>
          <p:nvPr/>
        </p:nvSpPr>
        <p:spPr>
          <a:xfrm>
            <a:off x="6263640" y="3520440"/>
            <a:ext cx="5440680" cy="1417320"/>
          </a:xfrm>
          <a:prstGeom prst="roundRect">
            <a:avLst>
              <a:gd name="adj" fmla="val 5161"/>
            </a:avLst>
          </a:prstGeom>
          <a:solidFill>
            <a:srgbClr val="F3F7FA"/>
          </a:solidFill>
          <a:ln/>
        </p:spPr>
      </p:sp>
      <p:sp>
        <p:nvSpPr>
          <p:cNvPr id="18" name="Text 16"/>
          <p:cNvSpPr txBox="1"/>
          <p:nvPr/>
        </p:nvSpPr>
        <p:spPr>
          <a:xfrm>
            <a:off x="6492240" y="3685032"/>
            <a:ext cx="1005840" cy="1005840"/>
          </a:xfrm>
          <a:prstGeom prst="rect">
            <a:avLst/>
          </a:prstGeom>
          <a:noFill/>
          <a:ln/>
        </p:spPr>
        <p:txBody>
          <a:bodyPr wrap="square" lIns="0" tIns="0" rIns="0" bIns="0" rtlCol="0" anchor="ctr"/>
          <a:lstStyle/>
          <a:p>
            <a:pPr indent="0" marL="0">
              <a:buNone/>
            </a:pPr>
            <a:r>
              <a:rPr lang="en-US" sz="3400" b="1" dirty="0">
                <a:solidFill>
                  <a:srgbClr val="C9D9E3"/>
                </a:solidFill>
                <a:latin typeface="Cambria" pitchFamily="34" charset="0"/>
                <a:ea typeface="Cambria" pitchFamily="34" charset="-122"/>
                <a:cs typeface="Cambria" pitchFamily="34" charset="-120"/>
              </a:rPr>
              <a:t>04</a:t>
            </a:r>
            <a:endParaRPr lang="en-US" sz="3400" dirty="0"/>
          </a:p>
        </p:txBody>
      </p:sp>
      <p:sp>
        <p:nvSpPr>
          <p:cNvPr id="19" name="Text 17"/>
          <p:cNvSpPr txBox="1"/>
          <p:nvPr/>
        </p:nvSpPr>
        <p:spPr>
          <a:xfrm>
            <a:off x="7406640" y="3721608"/>
            <a:ext cx="4069080" cy="502920"/>
          </a:xfrm>
          <a:prstGeom prst="rect">
            <a:avLst/>
          </a:prstGeom>
          <a:noFill/>
          <a:ln/>
        </p:spPr>
        <p:txBody>
          <a:bodyPr wrap="square" lIns="0" tIns="0" rIns="0" bIns="0" rtlCol="0" anchor="t"/>
          <a:lstStyle/>
          <a:p>
            <a:pPr indent="0" marL="0">
              <a:buNone/>
            </a:pPr>
            <a:r>
              <a:rPr lang="en-US" sz="1500" b="1" dirty="0">
                <a:solidFill>
                  <a:srgbClr val="0B3D5C"/>
                </a:solidFill>
                <a:latin typeface="Calibri" pitchFamily="34" charset="0"/>
                <a:ea typeface="Calibri" pitchFamily="34" charset="-122"/>
                <a:cs typeface="Calibri" pitchFamily="34" charset="-120"/>
              </a:rPr>
              <a:t>Tiền xử lý dữ liệu</a:t>
            </a:r>
            <a:endParaRPr lang="en-US" sz="1500" dirty="0"/>
          </a:p>
        </p:txBody>
      </p:sp>
      <p:sp>
        <p:nvSpPr>
          <p:cNvPr id="20" name="Text 18"/>
          <p:cNvSpPr txBox="1"/>
          <p:nvPr/>
        </p:nvSpPr>
        <p:spPr>
          <a:xfrm>
            <a:off x="7406640" y="4233672"/>
            <a:ext cx="4069080" cy="548640"/>
          </a:xfrm>
          <a:prstGeom prst="rect">
            <a:avLst/>
          </a:prstGeom>
          <a:noFill/>
          <a:ln/>
        </p:spPr>
        <p:txBody>
          <a:bodyPr wrap="square" lIns="0" tIns="0" rIns="0" bIns="0" rtlCol="0" anchor="t"/>
          <a:lstStyle/>
          <a:p>
            <a:pPr indent="0" marL="0">
              <a:buNone/>
            </a:pPr>
            <a:r>
              <a:rPr lang="en-US" sz="1150" dirty="0">
                <a:solidFill>
                  <a:srgbClr val="5B6B78"/>
                </a:solidFill>
                <a:latin typeface="Calibri" pitchFamily="34" charset="0"/>
                <a:ea typeface="Calibri" pitchFamily="34" charset="-122"/>
                <a:cs typeface="Calibri" pitchFamily="34" charset="-120"/>
              </a:rPr>
              <a:t>Chống rò rỉ dữ liệu (Data Leakage)</a:t>
            </a:r>
            <a:endParaRPr lang="en-US" sz="1150" dirty="0"/>
          </a:p>
        </p:txBody>
      </p:sp>
      <p:sp>
        <p:nvSpPr>
          <p:cNvPr id="21" name="Shape 19"/>
          <p:cNvSpPr/>
          <p:nvPr/>
        </p:nvSpPr>
        <p:spPr>
          <a:xfrm>
            <a:off x="457200" y="5074920"/>
            <a:ext cx="5440680" cy="1417320"/>
          </a:xfrm>
          <a:prstGeom prst="roundRect">
            <a:avLst>
              <a:gd name="adj" fmla="val 5161"/>
            </a:avLst>
          </a:prstGeom>
          <a:solidFill>
            <a:srgbClr val="F3F7FA"/>
          </a:solidFill>
          <a:ln/>
        </p:spPr>
      </p:sp>
      <p:sp>
        <p:nvSpPr>
          <p:cNvPr id="22" name="Text 20"/>
          <p:cNvSpPr txBox="1"/>
          <p:nvPr/>
        </p:nvSpPr>
        <p:spPr>
          <a:xfrm>
            <a:off x="685800" y="5239512"/>
            <a:ext cx="1005840" cy="1005840"/>
          </a:xfrm>
          <a:prstGeom prst="rect">
            <a:avLst/>
          </a:prstGeom>
          <a:noFill/>
          <a:ln/>
        </p:spPr>
        <p:txBody>
          <a:bodyPr wrap="square" lIns="0" tIns="0" rIns="0" bIns="0" rtlCol="0" anchor="ctr"/>
          <a:lstStyle/>
          <a:p>
            <a:pPr indent="0" marL="0">
              <a:buNone/>
            </a:pPr>
            <a:r>
              <a:rPr lang="en-US" sz="3400" b="1" dirty="0">
                <a:solidFill>
                  <a:srgbClr val="C9D9E3"/>
                </a:solidFill>
                <a:latin typeface="Cambria" pitchFamily="34" charset="0"/>
                <a:ea typeface="Cambria" pitchFamily="34" charset="-122"/>
                <a:cs typeface="Cambria" pitchFamily="34" charset="-120"/>
              </a:rPr>
              <a:t>05</a:t>
            </a:r>
            <a:endParaRPr lang="en-US" sz="3400" dirty="0"/>
          </a:p>
        </p:txBody>
      </p:sp>
      <p:sp>
        <p:nvSpPr>
          <p:cNvPr id="23" name="Text 21"/>
          <p:cNvSpPr txBox="1"/>
          <p:nvPr/>
        </p:nvSpPr>
        <p:spPr>
          <a:xfrm>
            <a:off x="1600200" y="5276088"/>
            <a:ext cx="4069080" cy="502920"/>
          </a:xfrm>
          <a:prstGeom prst="rect">
            <a:avLst/>
          </a:prstGeom>
          <a:noFill/>
          <a:ln/>
        </p:spPr>
        <p:txBody>
          <a:bodyPr wrap="square" lIns="0" tIns="0" rIns="0" bIns="0" rtlCol="0" anchor="t"/>
          <a:lstStyle/>
          <a:p>
            <a:pPr indent="0" marL="0">
              <a:buNone/>
            </a:pPr>
            <a:r>
              <a:rPr lang="en-US" sz="1500" b="1" dirty="0">
                <a:solidFill>
                  <a:srgbClr val="0B3D5C"/>
                </a:solidFill>
                <a:latin typeface="Calibri" pitchFamily="34" charset="0"/>
                <a:ea typeface="Calibri" pitchFamily="34" charset="-122"/>
                <a:cs typeface="Calibri" pitchFamily="34" charset="-120"/>
              </a:rPr>
              <a:t>Xây dựng &amp; đánh giá mô hình</a:t>
            </a:r>
            <a:endParaRPr lang="en-US" sz="1500" dirty="0"/>
          </a:p>
        </p:txBody>
      </p:sp>
      <p:sp>
        <p:nvSpPr>
          <p:cNvPr id="24" name="Text 22"/>
          <p:cNvSpPr txBox="1"/>
          <p:nvPr/>
        </p:nvSpPr>
        <p:spPr>
          <a:xfrm>
            <a:off x="1600200" y="5788152"/>
            <a:ext cx="4069080" cy="548640"/>
          </a:xfrm>
          <a:prstGeom prst="rect">
            <a:avLst/>
          </a:prstGeom>
          <a:noFill/>
          <a:ln/>
        </p:spPr>
        <p:txBody>
          <a:bodyPr wrap="square" lIns="0" tIns="0" rIns="0" bIns="0" rtlCol="0" anchor="t"/>
          <a:lstStyle/>
          <a:p>
            <a:pPr indent="0" marL="0">
              <a:buNone/>
            </a:pPr>
            <a:r>
              <a:rPr lang="en-US" sz="1150" dirty="0">
                <a:solidFill>
                  <a:srgbClr val="5B6B78"/>
                </a:solidFill>
                <a:latin typeface="Calibri" pitchFamily="34" charset="0"/>
                <a:ea typeface="Calibri" pitchFamily="34" charset="-122"/>
                <a:cs typeface="Calibri" pitchFamily="34" charset="-120"/>
              </a:rPr>
              <a:t>So sánh 4 thuật toán học máy</a:t>
            </a:r>
            <a:endParaRPr lang="en-US" sz="1150" dirty="0"/>
          </a:p>
        </p:txBody>
      </p:sp>
      <p:sp>
        <p:nvSpPr>
          <p:cNvPr id="25" name="Shape 23"/>
          <p:cNvSpPr/>
          <p:nvPr/>
        </p:nvSpPr>
        <p:spPr>
          <a:xfrm>
            <a:off x="6263640" y="5074920"/>
            <a:ext cx="5440680" cy="1417320"/>
          </a:xfrm>
          <a:prstGeom prst="roundRect">
            <a:avLst>
              <a:gd name="adj" fmla="val 5161"/>
            </a:avLst>
          </a:prstGeom>
          <a:solidFill>
            <a:srgbClr val="F3F7FA"/>
          </a:solidFill>
          <a:ln/>
        </p:spPr>
      </p:sp>
      <p:sp>
        <p:nvSpPr>
          <p:cNvPr id="26" name="Text 24"/>
          <p:cNvSpPr txBox="1"/>
          <p:nvPr/>
        </p:nvSpPr>
        <p:spPr>
          <a:xfrm>
            <a:off x="6492240" y="5239512"/>
            <a:ext cx="1005840" cy="1005840"/>
          </a:xfrm>
          <a:prstGeom prst="rect">
            <a:avLst/>
          </a:prstGeom>
          <a:noFill/>
          <a:ln/>
        </p:spPr>
        <p:txBody>
          <a:bodyPr wrap="square" lIns="0" tIns="0" rIns="0" bIns="0" rtlCol="0" anchor="ctr"/>
          <a:lstStyle/>
          <a:p>
            <a:pPr indent="0" marL="0">
              <a:buNone/>
            </a:pPr>
            <a:r>
              <a:rPr lang="en-US" sz="3400" b="1" dirty="0">
                <a:solidFill>
                  <a:srgbClr val="C9D9E3"/>
                </a:solidFill>
                <a:latin typeface="Cambria" pitchFamily="34" charset="0"/>
                <a:ea typeface="Cambria" pitchFamily="34" charset="-122"/>
                <a:cs typeface="Cambria" pitchFamily="34" charset="-120"/>
              </a:rPr>
              <a:t>06</a:t>
            </a:r>
            <a:endParaRPr lang="en-US" sz="3400" dirty="0"/>
          </a:p>
        </p:txBody>
      </p:sp>
      <p:sp>
        <p:nvSpPr>
          <p:cNvPr id="27" name="Text 25"/>
          <p:cNvSpPr txBox="1"/>
          <p:nvPr/>
        </p:nvSpPr>
        <p:spPr>
          <a:xfrm>
            <a:off x="7406640" y="5276088"/>
            <a:ext cx="4069080" cy="502920"/>
          </a:xfrm>
          <a:prstGeom prst="rect">
            <a:avLst/>
          </a:prstGeom>
          <a:noFill/>
          <a:ln/>
        </p:spPr>
        <p:txBody>
          <a:bodyPr wrap="square" lIns="0" tIns="0" rIns="0" bIns="0" rtlCol="0" anchor="t"/>
          <a:lstStyle/>
          <a:p>
            <a:pPr indent="0" marL="0">
              <a:buNone/>
            </a:pPr>
            <a:r>
              <a:rPr lang="en-US" sz="1500" b="1" dirty="0">
                <a:solidFill>
                  <a:srgbClr val="0B3D5C"/>
                </a:solidFill>
                <a:latin typeface="Calibri" pitchFamily="34" charset="0"/>
                <a:ea typeface="Calibri" pitchFamily="34" charset="-122"/>
                <a:cs typeface="Calibri" pitchFamily="34" charset="-120"/>
              </a:rPr>
              <a:t>Triển khai hệ thống &amp; Kết luận</a:t>
            </a:r>
            <a:endParaRPr lang="en-US" sz="1500" dirty="0"/>
          </a:p>
        </p:txBody>
      </p:sp>
      <p:sp>
        <p:nvSpPr>
          <p:cNvPr id="28" name="Text 26"/>
          <p:cNvSpPr txBox="1"/>
          <p:nvPr/>
        </p:nvSpPr>
        <p:spPr>
          <a:xfrm>
            <a:off x="7406640" y="5788152"/>
            <a:ext cx="4069080" cy="548640"/>
          </a:xfrm>
          <a:prstGeom prst="rect">
            <a:avLst/>
          </a:prstGeom>
          <a:noFill/>
          <a:ln/>
        </p:spPr>
        <p:txBody>
          <a:bodyPr wrap="square" lIns="0" tIns="0" rIns="0" bIns="0" rtlCol="0" anchor="t"/>
          <a:lstStyle/>
          <a:p>
            <a:pPr indent="0" marL="0">
              <a:buNone/>
            </a:pPr>
            <a:r>
              <a:rPr lang="en-US" sz="1150" dirty="0">
                <a:solidFill>
                  <a:srgbClr val="5B6B78"/>
                </a:solidFill>
                <a:latin typeface="Calibri" pitchFamily="34" charset="0"/>
                <a:ea typeface="Calibri" pitchFamily="34" charset="-122"/>
                <a:cs typeface="Calibri" pitchFamily="34" charset="-120"/>
              </a:rPr>
              <a:t>MLOps, Docker, kết quả đạt được</a:t>
            </a:r>
            <a:endParaRPr lang="en-US" sz="1150" dirty="0"/>
          </a:p>
        </p:txBody>
      </p:sp>
      <p:sp>
        <p:nvSpPr>
          <p:cNvPr id="29" name="Text 27"/>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30" name="Text 2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1 · TỔNG QUAN</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Đặt vấn đề &amp; tính cấp thiết</a:t>
            </a:r>
            <a:endParaRPr lang="en-US" sz="3000" dirty="0"/>
          </a:p>
        </p:txBody>
      </p:sp>
      <p:sp>
        <p:nvSpPr>
          <p:cNvPr id="5" name="Shape 3"/>
          <p:cNvSpPr/>
          <p:nvPr/>
        </p:nvSpPr>
        <p:spPr>
          <a:xfrm>
            <a:off x="457200" y="2066544"/>
            <a:ext cx="128016" cy="128016"/>
          </a:xfrm>
          <a:prstGeom prst="ellipse">
            <a:avLst/>
          </a:prstGeom>
          <a:solidFill>
            <a:srgbClr val="1C7293"/>
          </a:solidFill>
          <a:ln/>
        </p:spPr>
      </p:sp>
      <p:sp>
        <p:nvSpPr>
          <p:cNvPr id="6" name="Text 4"/>
          <p:cNvSpPr txBox="1"/>
          <p:nvPr/>
        </p:nvSpPr>
        <p:spPr>
          <a:xfrm>
            <a:off x="777240" y="1938528"/>
            <a:ext cx="6537960" cy="777240"/>
          </a:xfrm>
          <a:prstGeom prst="rect">
            <a:avLst/>
          </a:prstGeom>
          <a:noFill/>
          <a:ln/>
        </p:spPr>
        <p:txBody>
          <a:bodyPr wrap="square" lIns="0" tIns="0" rIns="0" bIns="0" rtlCol="0" anchor="t"/>
          <a:lstStyle/>
          <a:p>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Thị trường viễn thông cạnh tranh gay gắt — khách hàng dễ dàng chuyển sang nhà mạng khác (Customer Churn).</a:t>
            </a:r>
            <a:endParaRPr lang="en-US" sz="1400" dirty="0"/>
          </a:p>
        </p:txBody>
      </p:sp>
      <p:sp>
        <p:nvSpPr>
          <p:cNvPr id="7" name="Shape 5"/>
          <p:cNvSpPr/>
          <p:nvPr/>
        </p:nvSpPr>
        <p:spPr>
          <a:xfrm>
            <a:off x="457200" y="3099816"/>
            <a:ext cx="128016" cy="128016"/>
          </a:xfrm>
          <a:prstGeom prst="ellipse">
            <a:avLst/>
          </a:prstGeom>
          <a:solidFill>
            <a:srgbClr val="1C7293"/>
          </a:solidFill>
          <a:ln/>
        </p:spPr>
      </p:sp>
      <p:sp>
        <p:nvSpPr>
          <p:cNvPr id="8" name="Text 6"/>
          <p:cNvSpPr txBox="1"/>
          <p:nvPr/>
        </p:nvSpPr>
        <p:spPr>
          <a:xfrm>
            <a:off x="777240" y="2971800"/>
            <a:ext cx="6537960" cy="777240"/>
          </a:xfrm>
          <a:prstGeom prst="rect">
            <a:avLst/>
          </a:prstGeom>
          <a:noFill/>
          <a:ln/>
        </p:spPr>
        <p:txBody>
          <a:bodyPr wrap="square" lIns="0" tIns="0" rIns="0" bIns="0" rtlCol="0" anchor="t"/>
          <a:lstStyle/>
          <a:p>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Bài toán đặt ra: phát hiện sớm khách hàng có nguy cơ rời bỏ để đưa ra chính sách chăm sóc, giữ chân phù hợp.</a:t>
            </a:r>
            <a:endParaRPr lang="en-US" sz="1400" dirty="0"/>
          </a:p>
        </p:txBody>
      </p:sp>
      <p:sp>
        <p:nvSpPr>
          <p:cNvPr id="9" name="Shape 7"/>
          <p:cNvSpPr/>
          <p:nvPr/>
        </p:nvSpPr>
        <p:spPr>
          <a:xfrm>
            <a:off x="457200" y="4133088"/>
            <a:ext cx="128016" cy="128016"/>
          </a:xfrm>
          <a:prstGeom prst="ellipse">
            <a:avLst/>
          </a:prstGeom>
          <a:solidFill>
            <a:srgbClr val="1C7293"/>
          </a:solidFill>
          <a:ln/>
        </p:spPr>
      </p:sp>
      <p:sp>
        <p:nvSpPr>
          <p:cNvPr id="10" name="Text 8"/>
          <p:cNvSpPr txBox="1"/>
          <p:nvPr/>
        </p:nvSpPr>
        <p:spPr>
          <a:xfrm>
            <a:off x="777240" y="4005072"/>
            <a:ext cx="6537960" cy="777240"/>
          </a:xfrm>
          <a:prstGeom prst="rect">
            <a:avLst/>
          </a:prstGeom>
          <a:noFill/>
          <a:ln/>
        </p:spPr>
        <p:txBody>
          <a:bodyPr wrap="square" lIns="0" tIns="0" rIns="0" bIns="0" rtlCol="0" anchor="t"/>
          <a:lstStyle/>
          <a:p>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Phân tích thủ công khó xử lý khối lượng lớn dữ liệu khách hàng một cách nhanh chóng và chính xác.</a:t>
            </a:r>
            <a:endParaRPr lang="en-US" sz="1400" dirty="0"/>
          </a:p>
        </p:txBody>
      </p:sp>
      <p:sp>
        <p:nvSpPr>
          <p:cNvPr id="11" name="Shape 9"/>
          <p:cNvSpPr/>
          <p:nvPr/>
        </p:nvSpPr>
        <p:spPr>
          <a:xfrm>
            <a:off x="457200" y="5166360"/>
            <a:ext cx="128016" cy="128016"/>
          </a:xfrm>
          <a:prstGeom prst="ellipse">
            <a:avLst/>
          </a:prstGeom>
          <a:solidFill>
            <a:srgbClr val="1C7293"/>
          </a:solidFill>
          <a:ln/>
        </p:spPr>
      </p:sp>
      <p:sp>
        <p:nvSpPr>
          <p:cNvPr id="12" name="Text 10"/>
          <p:cNvSpPr txBox="1"/>
          <p:nvPr/>
        </p:nvSpPr>
        <p:spPr>
          <a:xfrm>
            <a:off x="777240" y="5038344"/>
            <a:ext cx="6537960" cy="777240"/>
          </a:xfrm>
          <a:prstGeom prst="rect">
            <a:avLst/>
          </a:prstGeom>
          <a:noFill/>
          <a:ln/>
        </p:spPr>
        <p:txBody>
          <a:bodyPr wrap="square" lIns="0" tIns="0" rIns="0" bIns="0" rtlCol="0" anchor="t"/>
          <a:lstStyle/>
          <a:p>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Học máy (Machine Learning) mở ra hướng tiếp cận hiệu quả: học từ đặc điểm sử dụng dịch vụ, hợp đồng, chi phí…</a:t>
            </a:r>
            <a:endParaRPr lang="en-US" sz="1400" dirty="0"/>
          </a:p>
        </p:txBody>
      </p:sp>
      <p:sp>
        <p:nvSpPr>
          <p:cNvPr id="13" name="Shape 11"/>
          <p:cNvSpPr/>
          <p:nvPr/>
        </p:nvSpPr>
        <p:spPr>
          <a:xfrm>
            <a:off x="7818120" y="2011680"/>
            <a:ext cx="3931920" cy="3794760"/>
          </a:xfrm>
          <a:prstGeom prst="roundRect">
            <a:avLst>
              <a:gd name="adj" fmla="val 2410"/>
            </a:avLst>
          </a:prstGeom>
          <a:solidFill>
            <a:srgbClr val="0B3D5C"/>
          </a:solidFill>
          <a:ln/>
        </p:spPr>
      </p:sp>
      <p:sp>
        <p:nvSpPr>
          <p:cNvPr id="14" name="Text 12"/>
          <p:cNvSpPr txBox="1"/>
          <p:nvPr/>
        </p:nvSpPr>
        <p:spPr>
          <a:xfrm>
            <a:off x="8138160" y="2286000"/>
            <a:ext cx="3291840" cy="320040"/>
          </a:xfrm>
          <a:prstGeom prst="rect">
            <a:avLst/>
          </a:prstGeom>
          <a:noFill/>
          <a:ln/>
        </p:spPr>
        <p:txBody>
          <a:bodyPr wrap="square" lIns="0" tIns="0" rIns="0" bIns="0" rtlCol="0" anchor="ctr"/>
          <a:lstStyle/>
          <a:p>
            <a:pPr indent="0" marL="0">
              <a:buNone/>
            </a:pPr>
            <a:r>
              <a:rPr lang="en-US" sz="1100" b="1" spc="150" kern="0" dirty="0">
                <a:solidFill>
                  <a:srgbClr val="9FD7E8"/>
                </a:solidFill>
                <a:latin typeface="Calibri" pitchFamily="34" charset="0"/>
                <a:ea typeface="Calibri" pitchFamily="34" charset="-122"/>
                <a:cs typeface="Calibri" pitchFamily="34" charset="-120"/>
              </a:rPr>
              <a:t>MỤC TIÊU ĐỀ TÀI</a:t>
            </a:r>
            <a:endParaRPr lang="en-US" sz="1100" dirty="0"/>
          </a:p>
        </p:txBody>
      </p:sp>
      <p:sp>
        <p:nvSpPr>
          <p:cNvPr id="15" name="Text 13"/>
          <p:cNvSpPr txBox="1"/>
          <p:nvPr/>
        </p:nvSpPr>
        <p:spPr>
          <a:xfrm>
            <a:off x="8138160" y="2697480"/>
            <a:ext cx="3291840" cy="731520"/>
          </a:xfrm>
          <a:prstGeom prst="rect">
            <a:avLst/>
          </a:prstGeom>
          <a:noFill/>
          <a:ln/>
        </p:spPr>
        <p:txBody>
          <a:bodyPr wrap="square" lIns="0" tIns="0" rIns="0" bIns="0" rtlCol="0" anchor="ctr"/>
          <a:lstStyle/>
          <a:p>
            <a:pPr indent="0" marL="0">
              <a:lnSpc>
                <a:spcPct val="120000"/>
              </a:lnSpc>
              <a:buNone/>
            </a:pPr>
            <a:r>
              <a:rPr lang="en-US" sz="1350" dirty="0">
                <a:solidFill>
                  <a:srgbClr val="E8F1F6"/>
                </a:solidFill>
                <a:latin typeface="Calibri" pitchFamily="34" charset="0"/>
                <a:ea typeface="Calibri" pitchFamily="34" charset="-122"/>
                <a:cs typeface="Calibri" pitchFamily="34" charset="-120"/>
              </a:rPr>
              <a:t>Xây dựng hệ thống học máy phân loại khách hàng thành hai nhóm:</a:t>
            </a:r>
            <a:endParaRPr lang="en-US" sz="1350" dirty="0"/>
          </a:p>
        </p:txBody>
      </p:sp>
      <p:sp>
        <p:nvSpPr>
          <p:cNvPr id="16" name="Shape 14"/>
          <p:cNvSpPr/>
          <p:nvPr/>
        </p:nvSpPr>
        <p:spPr>
          <a:xfrm>
            <a:off x="8138160" y="3520440"/>
            <a:ext cx="3291840" cy="594360"/>
          </a:xfrm>
          <a:prstGeom prst="roundRect">
            <a:avLst>
              <a:gd name="adj" fmla="val 12308"/>
            </a:avLst>
          </a:prstGeom>
          <a:solidFill>
            <a:srgbClr val="E4572E"/>
          </a:solidFill>
          <a:ln/>
        </p:spPr>
      </p:sp>
      <p:sp>
        <p:nvSpPr>
          <p:cNvPr id="17" name="Text 15"/>
          <p:cNvSpPr txBox="1"/>
          <p:nvPr/>
        </p:nvSpPr>
        <p:spPr>
          <a:xfrm>
            <a:off x="8138160" y="3520440"/>
            <a:ext cx="3291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CHURN — Rời bỏ dịch vụ</a:t>
            </a:r>
            <a:endParaRPr lang="en-US" sz="1300" dirty="0"/>
          </a:p>
        </p:txBody>
      </p:sp>
      <p:sp>
        <p:nvSpPr>
          <p:cNvPr id="18" name="Shape 16"/>
          <p:cNvSpPr/>
          <p:nvPr/>
        </p:nvSpPr>
        <p:spPr>
          <a:xfrm>
            <a:off x="8138160" y="4251960"/>
            <a:ext cx="3291840" cy="594360"/>
          </a:xfrm>
          <a:prstGeom prst="roundRect">
            <a:avLst>
              <a:gd name="adj" fmla="val 12308"/>
            </a:avLst>
          </a:prstGeom>
          <a:solidFill>
            <a:srgbClr val="1C7293"/>
          </a:solidFill>
          <a:ln/>
        </p:spPr>
      </p:sp>
      <p:sp>
        <p:nvSpPr>
          <p:cNvPr id="19" name="Text 17"/>
          <p:cNvSpPr txBox="1"/>
          <p:nvPr/>
        </p:nvSpPr>
        <p:spPr>
          <a:xfrm>
            <a:off x="8138160" y="4251960"/>
            <a:ext cx="3291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 CHURN — Tiếp tục sử dụng</a:t>
            </a:r>
            <a:endParaRPr lang="en-US" sz="1300" dirty="0"/>
          </a:p>
        </p:txBody>
      </p:sp>
      <p:sp>
        <p:nvSpPr>
          <p:cNvPr id="20" name="Text 18"/>
          <p:cNvSpPr txBox="1"/>
          <p:nvPr/>
        </p:nvSpPr>
        <p:spPr>
          <a:xfrm>
            <a:off x="8138160" y="4956048"/>
            <a:ext cx="3291840" cy="685800"/>
          </a:xfrm>
          <a:prstGeom prst="rect">
            <a:avLst/>
          </a:prstGeom>
          <a:noFill/>
          <a:ln/>
        </p:spPr>
        <p:txBody>
          <a:bodyPr wrap="square" lIns="0" tIns="0" rIns="0" bIns="0" rtlCol="0" anchor="ctr"/>
          <a:lstStyle/>
          <a:p>
            <a:pPr indent="0" marL="0">
              <a:lnSpc>
                <a:spcPct val="115000"/>
              </a:lnSpc>
              <a:buNone/>
            </a:pPr>
            <a:r>
              <a:rPr lang="en-US" sz="1150" i="1" dirty="0">
                <a:solidFill>
                  <a:srgbClr val="CADCFC"/>
                </a:solidFill>
                <a:latin typeface="Calibri" pitchFamily="34" charset="0"/>
                <a:ea typeface="Calibri" pitchFamily="34" charset="-122"/>
                <a:cs typeface="Calibri" pitchFamily="34" charset="-120"/>
              </a:rPr>
              <a:t>Kết quả hỗ trợ doanh nghiệp nhận diện nhóm rủi ro cao, xây dựng chiến lược giữ chân khách hàng.</a:t>
            </a:r>
            <a:endParaRPr lang="en-US" sz="1150" dirty="0"/>
          </a:p>
        </p:txBody>
      </p:sp>
      <p:sp>
        <p:nvSpPr>
          <p:cNvPr id="21" name="Text 19"/>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22" name="Text 20"/>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1 · DỮ LIỆU</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Giới thiệu tập dữ liệu</a:t>
            </a:r>
            <a:endParaRPr lang="en-US" sz="3000" dirty="0"/>
          </a:p>
        </p:txBody>
      </p:sp>
      <p:sp>
        <p:nvSpPr>
          <p:cNvPr id="5" name="Text 3"/>
          <p:cNvSpPr txBox="1"/>
          <p:nvPr/>
        </p:nvSpPr>
        <p:spPr>
          <a:xfrm>
            <a:off x="457200" y="1965960"/>
            <a:ext cx="6766560" cy="411480"/>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Telco Customer Churn Dataset</a:t>
            </a:r>
            <a:endParaRPr lang="en-US" sz="1800" dirty="0"/>
          </a:p>
        </p:txBody>
      </p:sp>
      <p:sp>
        <p:nvSpPr>
          <p:cNvPr id="6" name="Text 4"/>
          <p:cNvSpPr txBox="1"/>
          <p:nvPr/>
        </p:nvSpPr>
        <p:spPr>
          <a:xfrm>
            <a:off x="457200" y="2423160"/>
            <a:ext cx="6766560" cy="1371600"/>
          </a:xfrm>
          <a:prstGeom prst="rect">
            <a:avLst/>
          </a:prstGeom>
          <a:noFill/>
          <a:ln/>
        </p:spPr>
        <p:txBody>
          <a:bodyPr wrap="square" lIns="0" tIns="0" rIns="0" bIns="0" rtlCol="0" anchor="ctr"/>
          <a:lstStyle/>
          <a:p>
            <a:pPr indent="0" marL="0">
              <a:lnSpc>
                <a:spcPct val="125000"/>
              </a:lnSpc>
              <a:buNone/>
            </a:pPr>
            <a:r>
              <a:rPr lang="en-US" sz="1350" dirty="0">
                <a:solidFill>
                  <a:srgbClr val="1F2937"/>
                </a:solidFill>
                <a:latin typeface="Calibri" pitchFamily="34" charset="0"/>
                <a:ea typeface="Calibri" pitchFamily="34" charset="-122"/>
                <a:cs typeface="Calibri" pitchFamily="34" charset="-120"/>
              </a:rPr>
              <a:t>Bộ dữ liệu được sử dụng để nghiên cứu và dự đoán tình trạng khách hàng rời bỏ dịch vụ nhà mạng, bao gồm thông tin về đặc điểm cá nhân, dịch vụ sử dụng, loại hợp đồng và chi phí — làm cơ sở cho quá trình phân tích, huấn luyện và đánh giá mô hình.</a:t>
            </a:r>
            <a:endParaRPr lang="en-US" sz="1350" dirty="0"/>
          </a:p>
        </p:txBody>
      </p:sp>
      <p:sp>
        <p:nvSpPr>
          <p:cNvPr id="7" name="Text 5"/>
          <p:cNvSpPr txBox="1"/>
          <p:nvPr/>
        </p:nvSpPr>
        <p:spPr>
          <a:xfrm>
            <a:off x="457200" y="3886200"/>
            <a:ext cx="6766560" cy="320040"/>
          </a:xfrm>
          <a:prstGeom prst="rect">
            <a:avLst/>
          </a:prstGeom>
          <a:noFill/>
          <a:ln/>
        </p:spPr>
        <p:txBody>
          <a:bodyPr wrap="square" lIns="0" tIns="0" rIns="0" bIns="0"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Nguồn: Kaggle Community — Telco Customer Churn Dataset</a:t>
            </a:r>
            <a:endParaRPr lang="en-US" sz="1150" dirty="0"/>
          </a:p>
        </p:txBody>
      </p:sp>
      <p:sp>
        <p:nvSpPr>
          <p:cNvPr id="8" name="Shape 6"/>
          <p:cNvSpPr/>
          <p:nvPr/>
        </p:nvSpPr>
        <p:spPr>
          <a:xfrm>
            <a:off x="457200" y="4480560"/>
            <a:ext cx="2148840" cy="1371600"/>
          </a:xfrm>
          <a:prstGeom prst="roundRect">
            <a:avLst>
              <a:gd name="adj" fmla="val 5333"/>
            </a:avLst>
          </a:prstGeom>
          <a:solidFill>
            <a:srgbClr val="F3F7FA"/>
          </a:solidFill>
          <a:ln/>
        </p:spPr>
      </p:sp>
      <p:sp>
        <p:nvSpPr>
          <p:cNvPr id="9" name="Text 7"/>
          <p:cNvSpPr txBox="1"/>
          <p:nvPr/>
        </p:nvSpPr>
        <p:spPr>
          <a:xfrm>
            <a:off x="457200" y="4572000"/>
            <a:ext cx="2148840" cy="685800"/>
          </a:xfrm>
          <a:prstGeom prst="rect">
            <a:avLst/>
          </a:prstGeom>
          <a:noFill/>
          <a:ln/>
        </p:spPr>
        <p:txBody>
          <a:bodyPr wrap="square" lIns="0" tIns="0" rIns="0" bIns="0" rtlCol="0" anchor="ctr"/>
          <a:lstStyle/>
          <a:p>
            <a:pPr algn="ctr" indent="0" marL="0">
              <a:buNone/>
            </a:pPr>
            <a:r>
              <a:rPr lang="en-US" sz="3000" b="1" dirty="0">
                <a:solidFill>
                  <a:srgbClr val="0B3D5C"/>
                </a:solidFill>
                <a:latin typeface="Cambria" pitchFamily="34" charset="0"/>
                <a:ea typeface="Cambria" pitchFamily="34" charset="-122"/>
                <a:cs typeface="Cambria" pitchFamily="34" charset="-120"/>
              </a:rPr>
              <a:t>7.043</a:t>
            </a:r>
            <a:endParaRPr lang="en-US" sz="3000" dirty="0"/>
          </a:p>
        </p:txBody>
      </p:sp>
      <p:sp>
        <p:nvSpPr>
          <p:cNvPr id="10" name="Text 8"/>
          <p:cNvSpPr txBox="1"/>
          <p:nvPr/>
        </p:nvSpPr>
        <p:spPr>
          <a:xfrm>
            <a:off x="457200" y="5212080"/>
            <a:ext cx="2148840" cy="502920"/>
          </a:xfrm>
          <a:prstGeom prst="rect">
            <a:avLst/>
          </a:prstGeom>
          <a:noFill/>
          <a:ln/>
        </p:spPr>
        <p:txBody>
          <a:bodyPr wrap="square" lIns="0" tIns="0" rIns="0" bIns="0" rtlCol="0" anchor="ctr"/>
          <a:lstStyle/>
          <a:p>
            <a:pPr algn="ctr" indent="0" marL="0">
              <a:buNone/>
            </a:pPr>
            <a:r>
              <a:rPr lang="en-US" sz="1150" dirty="0">
                <a:solidFill>
                  <a:srgbClr val="5B6B78"/>
                </a:solidFill>
                <a:latin typeface="Calibri" pitchFamily="34" charset="0"/>
                <a:ea typeface="Calibri" pitchFamily="34" charset="-122"/>
                <a:cs typeface="Calibri" pitchFamily="34" charset="-120"/>
              </a:rPr>
              <a:t>khách hàng</a:t>
            </a:r>
            <a:endParaRPr lang="en-US" sz="1150" dirty="0"/>
          </a:p>
        </p:txBody>
      </p:sp>
      <p:sp>
        <p:nvSpPr>
          <p:cNvPr id="11" name="Shape 9"/>
          <p:cNvSpPr/>
          <p:nvPr/>
        </p:nvSpPr>
        <p:spPr>
          <a:xfrm>
            <a:off x="2788920" y="4480560"/>
            <a:ext cx="2148840" cy="1371600"/>
          </a:xfrm>
          <a:prstGeom prst="roundRect">
            <a:avLst>
              <a:gd name="adj" fmla="val 5333"/>
            </a:avLst>
          </a:prstGeom>
          <a:solidFill>
            <a:srgbClr val="F3F7FA"/>
          </a:solidFill>
          <a:ln/>
        </p:spPr>
      </p:sp>
      <p:sp>
        <p:nvSpPr>
          <p:cNvPr id="12" name="Text 10"/>
          <p:cNvSpPr txBox="1"/>
          <p:nvPr/>
        </p:nvSpPr>
        <p:spPr>
          <a:xfrm>
            <a:off x="2788920" y="4572000"/>
            <a:ext cx="2148840" cy="685800"/>
          </a:xfrm>
          <a:prstGeom prst="rect">
            <a:avLst/>
          </a:prstGeom>
          <a:noFill/>
          <a:ln/>
        </p:spPr>
        <p:txBody>
          <a:bodyPr wrap="square" lIns="0" tIns="0" rIns="0" bIns="0" rtlCol="0" anchor="ctr"/>
          <a:lstStyle/>
          <a:p>
            <a:pPr algn="ctr" indent="0" marL="0">
              <a:buNone/>
            </a:pPr>
            <a:r>
              <a:rPr lang="en-US" sz="3000" b="1" dirty="0">
                <a:solidFill>
                  <a:srgbClr val="0B3D5C"/>
                </a:solidFill>
                <a:latin typeface="Cambria" pitchFamily="34" charset="0"/>
                <a:ea typeface="Cambria" pitchFamily="34" charset="-122"/>
                <a:cs typeface="Cambria" pitchFamily="34" charset="-120"/>
              </a:rPr>
              <a:t>20</a:t>
            </a:r>
            <a:endParaRPr lang="en-US" sz="3000" dirty="0"/>
          </a:p>
        </p:txBody>
      </p:sp>
      <p:sp>
        <p:nvSpPr>
          <p:cNvPr id="13" name="Text 11"/>
          <p:cNvSpPr txBox="1"/>
          <p:nvPr/>
        </p:nvSpPr>
        <p:spPr>
          <a:xfrm>
            <a:off x="2788920" y="5212080"/>
            <a:ext cx="2148840" cy="502920"/>
          </a:xfrm>
          <a:prstGeom prst="rect">
            <a:avLst/>
          </a:prstGeom>
          <a:noFill/>
          <a:ln/>
        </p:spPr>
        <p:txBody>
          <a:bodyPr wrap="square" lIns="0" tIns="0" rIns="0" bIns="0" rtlCol="0" anchor="ctr"/>
          <a:lstStyle/>
          <a:p>
            <a:pPr algn="ctr" indent="0" marL="0">
              <a:buNone/>
            </a:pPr>
            <a:r>
              <a:rPr lang="en-US" sz="1150" dirty="0">
                <a:solidFill>
                  <a:srgbClr val="5B6B78"/>
                </a:solidFill>
                <a:latin typeface="Calibri" pitchFamily="34" charset="0"/>
                <a:ea typeface="Calibri" pitchFamily="34" charset="-122"/>
                <a:cs typeface="Calibri" pitchFamily="34" charset="-120"/>
              </a:rPr>
              <a:t>đặc trưng đầu vào</a:t>
            </a:r>
            <a:endParaRPr lang="en-US" sz="1150" dirty="0"/>
          </a:p>
        </p:txBody>
      </p:sp>
      <p:sp>
        <p:nvSpPr>
          <p:cNvPr id="14" name="Shape 12"/>
          <p:cNvSpPr/>
          <p:nvPr/>
        </p:nvSpPr>
        <p:spPr>
          <a:xfrm>
            <a:off x="5120640" y="4480560"/>
            <a:ext cx="2148840" cy="1371600"/>
          </a:xfrm>
          <a:prstGeom prst="roundRect">
            <a:avLst>
              <a:gd name="adj" fmla="val 5333"/>
            </a:avLst>
          </a:prstGeom>
          <a:solidFill>
            <a:srgbClr val="F3F7FA"/>
          </a:solidFill>
          <a:ln/>
        </p:spPr>
      </p:sp>
      <p:sp>
        <p:nvSpPr>
          <p:cNvPr id="15" name="Text 13"/>
          <p:cNvSpPr txBox="1"/>
          <p:nvPr/>
        </p:nvSpPr>
        <p:spPr>
          <a:xfrm>
            <a:off x="5120640" y="4572000"/>
            <a:ext cx="2148840" cy="685800"/>
          </a:xfrm>
          <a:prstGeom prst="rect">
            <a:avLst/>
          </a:prstGeom>
          <a:noFill/>
          <a:ln/>
        </p:spPr>
        <p:txBody>
          <a:bodyPr wrap="square" lIns="0" tIns="0" rIns="0" bIns="0" rtlCol="0" anchor="ctr"/>
          <a:lstStyle/>
          <a:p>
            <a:pPr algn="ctr" indent="0" marL="0">
              <a:buNone/>
            </a:pPr>
            <a:r>
              <a:rPr lang="en-US" sz="3000" b="1" dirty="0">
                <a:solidFill>
                  <a:srgbClr val="0B3D5C"/>
                </a:solidFill>
                <a:latin typeface="Cambria" pitchFamily="34" charset="0"/>
                <a:ea typeface="Cambria" pitchFamily="34" charset="-122"/>
                <a:cs typeface="Cambria" pitchFamily="34" charset="-120"/>
              </a:rPr>
              <a:t>2</a:t>
            </a:r>
            <a:endParaRPr lang="en-US" sz="3000" dirty="0"/>
          </a:p>
        </p:txBody>
      </p:sp>
      <p:sp>
        <p:nvSpPr>
          <p:cNvPr id="16" name="Text 14"/>
          <p:cNvSpPr txBox="1"/>
          <p:nvPr/>
        </p:nvSpPr>
        <p:spPr>
          <a:xfrm>
            <a:off x="5120640" y="5212080"/>
            <a:ext cx="2148840" cy="502920"/>
          </a:xfrm>
          <a:prstGeom prst="rect">
            <a:avLst/>
          </a:prstGeom>
          <a:noFill/>
          <a:ln/>
        </p:spPr>
        <p:txBody>
          <a:bodyPr wrap="square" lIns="0" tIns="0" rIns="0" bIns="0" rtlCol="0" anchor="ctr"/>
          <a:lstStyle/>
          <a:p>
            <a:pPr algn="ctr" indent="0" marL="0">
              <a:buNone/>
            </a:pPr>
            <a:r>
              <a:rPr lang="en-US" sz="1150" dirty="0">
                <a:solidFill>
                  <a:srgbClr val="5B6B78"/>
                </a:solidFill>
                <a:latin typeface="Calibri" pitchFamily="34" charset="0"/>
                <a:ea typeface="Calibri" pitchFamily="34" charset="-122"/>
                <a:cs typeface="Calibri" pitchFamily="34" charset="-120"/>
              </a:rPr>
              <a:t>nhãn phân loại</a:t>
            </a:r>
            <a:endParaRPr lang="en-US" sz="1150" dirty="0"/>
          </a:p>
        </p:txBody>
      </p:sp>
      <p:sp>
        <p:nvSpPr>
          <p:cNvPr id="17" name="Shape 15"/>
          <p:cNvSpPr/>
          <p:nvPr/>
        </p:nvSpPr>
        <p:spPr>
          <a:xfrm>
            <a:off x="7818120" y="1965960"/>
            <a:ext cx="3931920" cy="3886200"/>
          </a:xfrm>
          <a:prstGeom prst="roundRect">
            <a:avLst>
              <a:gd name="adj" fmla="val 2353"/>
            </a:avLst>
          </a:prstGeom>
          <a:solidFill>
            <a:srgbClr val="0B3D5C"/>
          </a:solidFill>
          <a:ln/>
        </p:spPr>
      </p:sp>
      <p:sp>
        <p:nvSpPr>
          <p:cNvPr id="18" name="Text 16"/>
          <p:cNvSpPr txBox="1"/>
          <p:nvPr/>
        </p:nvSpPr>
        <p:spPr>
          <a:xfrm>
            <a:off x="8138160" y="2240280"/>
            <a:ext cx="3291840" cy="320040"/>
          </a:xfrm>
          <a:prstGeom prst="rect">
            <a:avLst/>
          </a:prstGeom>
          <a:noFill/>
          <a:ln/>
        </p:spPr>
        <p:txBody>
          <a:bodyPr wrap="square" lIns="0" tIns="0" rIns="0" bIns="0" rtlCol="0" anchor="ctr"/>
          <a:lstStyle/>
          <a:p>
            <a:pPr indent="0" marL="0">
              <a:buNone/>
            </a:pPr>
            <a:r>
              <a:rPr lang="en-US" sz="1100" b="1" spc="150" kern="0" dirty="0">
                <a:solidFill>
                  <a:srgbClr val="9FD7E8"/>
                </a:solidFill>
                <a:latin typeface="Calibri" pitchFamily="34" charset="0"/>
                <a:ea typeface="Calibri" pitchFamily="34" charset="-122"/>
                <a:cs typeface="Calibri" pitchFamily="34" charset="-120"/>
              </a:rPr>
              <a:t>BIẾN MỤC TIÊU</a:t>
            </a:r>
            <a:endParaRPr lang="en-US" sz="1100" dirty="0"/>
          </a:p>
        </p:txBody>
      </p:sp>
      <p:sp>
        <p:nvSpPr>
          <p:cNvPr id="19" name="Text 17"/>
          <p:cNvSpPr txBox="1"/>
          <p:nvPr/>
        </p:nvSpPr>
        <p:spPr>
          <a:xfrm>
            <a:off x="8138160" y="2578608"/>
            <a:ext cx="329184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Churn Label</a:t>
            </a:r>
            <a:endParaRPr lang="en-US" sz="2200" dirty="0"/>
          </a:p>
        </p:txBody>
      </p:sp>
      <p:sp>
        <p:nvSpPr>
          <p:cNvPr id="20" name="Text 18"/>
          <p:cNvSpPr txBox="1"/>
          <p:nvPr/>
        </p:nvSpPr>
        <p:spPr>
          <a:xfrm>
            <a:off x="8138160" y="3108960"/>
            <a:ext cx="3291840" cy="548640"/>
          </a:xfrm>
          <a:prstGeom prst="rect">
            <a:avLst/>
          </a:prstGeom>
          <a:noFill/>
          <a:ln/>
        </p:spPr>
        <p:txBody>
          <a:bodyPr wrap="square" lIns="0" tIns="0" rIns="0" bIns="0" rtlCol="0" anchor="ctr"/>
          <a:lstStyle/>
          <a:p>
            <a:pPr indent="0" marL="0">
              <a:lnSpc>
                <a:spcPct val="120000"/>
              </a:lnSpc>
              <a:buNone/>
            </a:pPr>
            <a:r>
              <a:rPr lang="en-US" sz="1250" dirty="0">
                <a:solidFill>
                  <a:srgbClr val="E8F1F6"/>
                </a:solidFill>
                <a:latin typeface="Calibri" pitchFamily="34" charset="0"/>
                <a:ea typeface="Calibri" pitchFamily="34" charset="-122"/>
                <a:cs typeface="Calibri" pitchFamily="34" charset="-120"/>
              </a:rPr>
              <a:t>Cho biết khách hàng có rời bỏ dịch vụ nhà mạng hay không, gồm hai nhóm:</a:t>
            </a:r>
            <a:endParaRPr lang="en-US" sz="1250" dirty="0"/>
          </a:p>
        </p:txBody>
      </p:sp>
      <p:sp>
        <p:nvSpPr>
          <p:cNvPr id="21" name="Shape 19"/>
          <p:cNvSpPr/>
          <p:nvPr/>
        </p:nvSpPr>
        <p:spPr>
          <a:xfrm>
            <a:off x="8138160" y="3749040"/>
            <a:ext cx="3291840" cy="502920"/>
          </a:xfrm>
          <a:prstGeom prst="roundRect">
            <a:avLst>
              <a:gd name="adj" fmla="val 10909"/>
            </a:avLst>
          </a:prstGeom>
          <a:solidFill>
            <a:srgbClr val="E4572E"/>
          </a:solidFill>
          <a:ln/>
        </p:spPr>
      </p:sp>
      <p:sp>
        <p:nvSpPr>
          <p:cNvPr id="22" name="Text 20"/>
          <p:cNvSpPr txBox="1"/>
          <p:nvPr/>
        </p:nvSpPr>
        <p:spPr>
          <a:xfrm>
            <a:off x="8138160" y="3749040"/>
            <a:ext cx="32918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Yes  →  Churn (rời bỏ)</a:t>
            </a:r>
            <a:endParaRPr lang="en-US" sz="1250" dirty="0"/>
          </a:p>
        </p:txBody>
      </p:sp>
      <p:sp>
        <p:nvSpPr>
          <p:cNvPr id="23" name="Shape 21"/>
          <p:cNvSpPr/>
          <p:nvPr/>
        </p:nvSpPr>
        <p:spPr>
          <a:xfrm>
            <a:off x="8138160" y="4343400"/>
            <a:ext cx="3291840" cy="502920"/>
          </a:xfrm>
          <a:prstGeom prst="roundRect">
            <a:avLst>
              <a:gd name="adj" fmla="val 10909"/>
            </a:avLst>
          </a:prstGeom>
          <a:solidFill>
            <a:srgbClr val="1C7293"/>
          </a:solidFill>
          <a:ln/>
        </p:spPr>
      </p:sp>
      <p:sp>
        <p:nvSpPr>
          <p:cNvPr id="24" name="Text 22"/>
          <p:cNvSpPr txBox="1"/>
          <p:nvPr/>
        </p:nvSpPr>
        <p:spPr>
          <a:xfrm>
            <a:off x="8138160" y="4343400"/>
            <a:ext cx="32918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  No Churn (ở lại)</a:t>
            </a:r>
            <a:endParaRPr lang="en-US" sz="1250" dirty="0"/>
          </a:p>
        </p:txBody>
      </p:sp>
      <p:sp>
        <p:nvSpPr>
          <p:cNvPr id="25" name="Text 23"/>
          <p:cNvSpPr txBox="1"/>
          <p:nvPr/>
        </p:nvSpPr>
        <p:spPr>
          <a:xfrm>
            <a:off x="8138160" y="4983480"/>
            <a:ext cx="3291840" cy="685800"/>
          </a:xfrm>
          <a:prstGeom prst="rect">
            <a:avLst/>
          </a:prstGeom>
          <a:noFill/>
          <a:ln/>
        </p:spPr>
        <p:txBody>
          <a:bodyPr wrap="square" lIns="0" tIns="0" rIns="0" bIns="0" rtlCol="0" anchor="ctr"/>
          <a:lstStyle/>
          <a:p>
            <a:pPr indent="0" marL="0">
              <a:lnSpc>
                <a:spcPct val="115000"/>
              </a:lnSpc>
              <a:buNone/>
            </a:pPr>
            <a:r>
              <a:rPr lang="en-US" sz="1100" i="1" dirty="0">
                <a:solidFill>
                  <a:srgbClr val="CADCFC"/>
                </a:solidFill>
                <a:latin typeface="Calibri" pitchFamily="34" charset="0"/>
                <a:ea typeface="Calibri" pitchFamily="34" charset="-122"/>
                <a:cs typeface="Calibri" pitchFamily="34" charset="-120"/>
              </a:rPr>
              <a:t>Dữ liệu được dùng làm nền tảng thực nghiệm cho toàn bộ pipeline học máy của đề tài.</a:t>
            </a:r>
            <a:endParaRPr lang="en-US" sz="1100" dirty="0"/>
          </a:p>
        </p:txBody>
      </p:sp>
      <p:sp>
        <p:nvSpPr>
          <p:cNvPr id="26" name="Text 24"/>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27" name="Text 2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1 · DỮ LIỆU</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Cấu trúc các trường dữ liệu</a:t>
            </a:r>
            <a:endParaRPr lang="en-US" sz="3000" dirty="0"/>
          </a:p>
        </p:txBody>
      </p:sp>
      <p:sp>
        <p:nvSpPr>
          <p:cNvPr id="5" name="Shape 3"/>
          <p:cNvSpPr/>
          <p:nvPr/>
        </p:nvSpPr>
        <p:spPr>
          <a:xfrm>
            <a:off x="457200" y="1965960"/>
            <a:ext cx="3575304" cy="1170432"/>
          </a:xfrm>
          <a:prstGeom prst="roundRect">
            <a:avLst>
              <a:gd name="adj" fmla="val 6250"/>
            </a:avLst>
          </a:prstGeom>
          <a:solidFill>
            <a:srgbClr val="FFFFFF"/>
          </a:solidFill>
          <a:ln w="12700">
            <a:solidFill>
              <a:srgbClr val="DCE6EC"/>
            </a:solidFill>
            <a:prstDash val="solid"/>
          </a:ln>
        </p:spPr>
      </p:sp>
      <p:sp>
        <p:nvSpPr>
          <p:cNvPr id="6" name="Shape 4"/>
          <p:cNvSpPr/>
          <p:nvPr/>
        </p:nvSpPr>
        <p:spPr>
          <a:xfrm>
            <a:off x="658368" y="2167128"/>
            <a:ext cx="310896" cy="310896"/>
          </a:xfrm>
          <a:prstGeom prst="ellipse">
            <a:avLst/>
          </a:prstGeom>
          <a:solidFill>
            <a:srgbClr val="1C7293"/>
          </a:solidFill>
          <a:ln/>
        </p:spPr>
      </p:sp>
      <p:sp>
        <p:nvSpPr>
          <p:cNvPr id="7" name="Text 5"/>
          <p:cNvSpPr txBox="1"/>
          <p:nvPr/>
        </p:nvSpPr>
        <p:spPr>
          <a:xfrm>
            <a:off x="658368" y="21671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97280" y="20939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Gender</a:t>
            </a:r>
            <a:endParaRPr lang="en-US" sz="1350" dirty="0"/>
          </a:p>
        </p:txBody>
      </p:sp>
      <p:sp>
        <p:nvSpPr>
          <p:cNvPr id="9" name="Text 7"/>
          <p:cNvSpPr txBox="1"/>
          <p:nvPr/>
        </p:nvSpPr>
        <p:spPr>
          <a:xfrm>
            <a:off x="1097280" y="24505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Giới tính của khách hàng</a:t>
            </a:r>
            <a:endParaRPr lang="en-US" sz="1080" dirty="0"/>
          </a:p>
        </p:txBody>
      </p:sp>
      <p:sp>
        <p:nvSpPr>
          <p:cNvPr id="10" name="Shape 8"/>
          <p:cNvSpPr/>
          <p:nvPr/>
        </p:nvSpPr>
        <p:spPr>
          <a:xfrm>
            <a:off x="4306824" y="1965960"/>
            <a:ext cx="3575304" cy="1170432"/>
          </a:xfrm>
          <a:prstGeom prst="roundRect">
            <a:avLst>
              <a:gd name="adj" fmla="val 6250"/>
            </a:avLst>
          </a:prstGeom>
          <a:solidFill>
            <a:srgbClr val="FFFFFF"/>
          </a:solidFill>
          <a:ln w="12700">
            <a:solidFill>
              <a:srgbClr val="DCE6EC"/>
            </a:solidFill>
            <a:prstDash val="solid"/>
          </a:ln>
        </p:spPr>
      </p:sp>
      <p:sp>
        <p:nvSpPr>
          <p:cNvPr id="11" name="Shape 9"/>
          <p:cNvSpPr/>
          <p:nvPr/>
        </p:nvSpPr>
        <p:spPr>
          <a:xfrm>
            <a:off x="4507992" y="2167128"/>
            <a:ext cx="310896" cy="310896"/>
          </a:xfrm>
          <a:prstGeom prst="ellipse">
            <a:avLst/>
          </a:prstGeom>
          <a:solidFill>
            <a:srgbClr val="1C7293"/>
          </a:solidFill>
          <a:ln/>
        </p:spPr>
      </p:sp>
      <p:sp>
        <p:nvSpPr>
          <p:cNvPr id="12" name="Text 10"/>
          <p:cNvSpPr txBox="1"/>
          <p:nvPr/>
        </p:nvSpPr>
        <p:spPr>
          <a:xfrm>
            <a:off x="4507992" y="21671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4946904" y="20939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Senior Citizen</a:t>
            </a:r>
            <a:endParaRPr lang="en-US" sz="1350" dirty="0"/>
          </a:p>
        </p:txBody>
      </p:sp>
      <p:sp>
        <p:nvSpPr>
          <p:cNvPr id="14" name="Text 12"/>
          <p:cNvSpPr txBox="1"/>
          <p:nvPr/>
        </p:nvSpPr>
        <p:spPr>
          <a:xfrm>
            <a:off x="4946904" y="24505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Khách hàng có phải người cao tuổi</a:t>
            </a:r>
            <a:endParaRPr lang="en-US" sz="1080" dirty="0"/>
          </a:p>
        </p:txBody>
      </p:sp>
      <p:sp>
        <p:nvSpPr>
          <p:cNvPr id="15" name="Shape 13"/>
          <p:cNvSpPr/>
          <p:nvPr/>
        </p:nvSpPr>
        <p:spPr>
          <a:xfrm>
            <a:off x="8156448" y="1965960"/>
            <a:ext cx="3575304" cy="1170432"/>
          </a:xfrm>
          <a:prstGeom prst="roundRect">
            <a:avLst>
              <a:gd name="adj" fmla="val 6250"/>
            </a:avLst>
          </a:prstGeom>
          <a:solidFill>
            <a:srgbClr val="FFFFFF"/>
          </a:solidFill>
          <a:ln w="12700">
            <a:solidFill>
              <a:srgbClr val="DCE6EC"/>
            </a:solidFill>
            <a:prstDash val="solid"/>
          </a:ln>
        </p:spPr>
      </p:sp>
      <p:sp>
        <p:nvSpPr>
          <p:cNvPr id="16" name="Shape 14"/>
          <p:cNvSpPr/>
          <p:nvPr/>
        </p:nvSpPr>
        <p:spPr>
          <a:xfrm>
            <a:off x="8357616" y="2167128"/>
            <a:ext cx="310896" cy="310896"/>
          </a:xfrm>
          <a:prstGeom prst="ellipse">
            <a:avLst/>
          </a:prstGeom>
          <a:solidFill>
            <a:srgbClr val="1C7293"/>
          </a:solidFill>
          <a:ln/>
        </p:spPr>
      </p:sp>
      <p:sp>
        <p:nvSpPr>
          <p:cNvPr id="17" name="Text 15"/>
          <p:cNvSpPr txBox="1"/>
          <p:nvPr/>
        </p:nvSpPr>
        <p:spPr>
          <a:xfrm>
            <a:off x="8357616" y="21671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796528" y="20939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Tenure Months</a:t>
            </a:r>
            <a:endParaRPr lang="en-US" sz="1350" dirty="0"/>
          </a:p>
        </p:txBody>
      </p:sp>
      <p:sp>
        <p:nvSpPr>
          <p:cNvPr id="19" name="Text 17"/>
          <p:cNvSpPr txBox="1"/>
          <p:nvPr/>
        </p:nvSpPr>
        <p:spPr>
          <a:xfrm>
            <a:off x="8796528" y="24505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Số tháng đã sử dụng dịch vụ</a:t>
            </a:r>
            <a:endParaRPr lang="en-US" sz="1080" dirty="0"/>
          </a:p>
        </p:txBody>
      </p:sp>
      <p:sp>
        <p:nvSpPr>
          <p:cNvPr id="20" name="Shape 18"/>
          <p:cNvSpPr/>
          <p:nvPr/>
        </p:nvSpPr>
        <p:spPr>
          <a:xfrm>
            <a:off x="457200" y="3337560"/>
            <a:ext cx="3575304" cy="1170432"/>
          </a:xfrm>
          <a:prstGeom prst="roundRect">
            <a:avLst>
              <a:gd name="adj" fmla="val 6250"/>
            </a:avLst>
          </a:prstGeom>
          <a:solidFill>
            <a:srgbClr val="FFFFFF"/>
          </a:solidFill>
          <a:ln w="12700">
            <a:solidFill>
              <a:srgbClr val="DCE6EC"/>
            </a:solidFill>
            <a:prstDash val="solid"/>
          </a:ln>
        </p:spPr>
      </p:sp>
      <p:sp>
        <p:nvSpPr>
          <p:cNvPr id="21" name="Shape 19"/>
          <p:cNvSpPr/>
          <p:nvPr/>
        </p:nvSpPr>
        <p:spPr>
          <a:xfrm>
            <a:off x="658368" y="3538728"/>
            <a:ext cx="310896" cy="310896"/>
          </a:xfrm>
          <a:prstGeom prst="ellipse">
            <a:avLst/>
          </a:prstGeom>
          <a:solidFill>
            <a:srgbClr val="1C7293"/>
          </a:solidFill>
          <a:ln/>
        </p:spPr>
      </p:sp>
      <p:sp>
        <p:nvSpPr>
          <p:cNvPr id="22" name="Text 20"/>
          <p:cNvSpPr txBox="1"/>
          <p:nvPr/>
        </p:nvSpPr>
        <p:spPr>
          <a:xfrm>
            <a:off x="658368" y="35387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097280" y="34655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Internet Service</a:t>
            </a:r>
            <a:endParaRPr lang="en-US" sz="1350" dirty="0"/>
          </a:p>
        </p:txBody>
      </p:sp>
      <p:sp>
        <p:nvSpPr>
          <p:cNvPr id="24" name="Text 22"/>
          <p:cNvSpPr txBox="1"/>
          <p:nvPr/>
        </p:nvSpPr>
        <p:spPr>
          <a:xfrm>
            <a:off x="1097280" y="38221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Loại dịch vụ Internet đang dùng</a:t>
            </a:r>
            <a:endParaRPr lang="en-US" sz="1080" dirty="0"/>
          </a:p>
        </p:txBody>
      </p:sp>
      <p:sp>
        <p:nvSpPr>
          <p:cNvPr id="25" name="Shape 23"/>
          <p:cNvSpPr/>
          <p:nvPr/>
        </p:nvSpPr>
        <p:spPr>
          <a:xfrm>
            <a:off x="4306824" y="3337560"/>
            <a:ext cx="3575304" cy="1170432"/>
          </a:xfrm>
          <a:prstGeom prst="roundRect">
            <a:avLst>
              <a:gd name="adj" fmla="val 6250"/>
            </a:avLst>
          </a:prstGeom>
          <a:solidFill>
            <a:srgbClr val="FFFFFF"/>
          </a:solidFill>
          <a:ln w="12700">
            <a:solidFill>
              <a:srgbClr val="DCE6EC"/>
            </a:solidFill>
            <a:prstDash val="solid"/>
          </a:ln>
        </p:spPr>
      </p:sp>
      <p:sp>
        <p:nvSpPr>
          <p:cNvPr id="26" name="Shape 24"/>
          <p:cNvSpPr/>
          <p:nvPr/>
        </p:nvSpPr>
        <p:spPr>
          <a:xfrm>
            <a:off x="4507992" y="3538728"/>
            <a:ext cx="310896" cy="310896"/>
          </a:xfrm>
          <a:prstGeom prst="ellipse">
            <a:avLst/>
          </a:prstGeom>
          <a:solidFill>
            <a:srgbClr val="1C7293"/>
          </a:solidFill>
          <a:ln/>
        </p:spPr>
      </p:sp>
      <p:sp>
        <p:nvSpPr>
          <p:cNvPr id="27" name="Text 25"/>
          <p:cNvSpPr txBox="1"/>
          <p:nvPr/>
        </p:nvSpPr>
        <p:spPr>
          <a:xfrm>
            <a:off x="4507992" y="35387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4946904" y="34655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Contract</a:t>
            </a:r>
            <a:endParaRPr lang="en-US" sz="1350" dirty="0"/>
          </a:p>
        </p:txBody>
      </p:sp>
      <p:sp>
        <p:nvSpPr>
          <p:cNvPr id="29" name="Text 27"/>
          <p:cNvSpPr txBox="1"/>
          <p:nvPr/>
        </p:nvSpPr>
        <p:spPr>
          <a:xfrm>
            <a:off x="4946904" y="38221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Loại hợp đồng của khách hàng</a:t>
            </a:r>
            <a:endParaRPr lang="en-US" sz="1080" dirty="0"/>
          </a:p>
        </p:txBody>
      </p:sp>
      <p:sp>
        <p:nvSpPr>
          <p:cNvPr id="30" name="Shape 28"/>
          <p:cNvSpPr/>
          <p:nvPr/>
        </p:nvSpPr>
        <p:spPr>
          <a:xfrm>
            <a:off x="8156448" y="3337560"/>
            <a:ext cx="3575304" cy="1170432"/>
          </a:xfrm>
          <a:prstGeom prst="roundRect">
            <a:avLst>
              <a:gd name="adj" fmla="val 6250"/>
            </a:avLst>
          </a:prstGeom>
          <a:solidFill>
            <a:srgbClr val="FFFFFF"/>
          </a:solidFill>
          <a:ln w="12700">
            <a:solidFill>
              <a:srgbClr val="DCE6EC"/>
            </a:solidFill>
            <a:prstDash val="solid"/>
          </a:ln>
        </p:spPr>
      </p:sp>
      <p:sp>
        <p:nvSpPr>
          <p:cNvPr id="31" name="Shape 29"/>
          <p:cNvSpPr/>
          <p:nvPr/>
        </p:nvSpPr>
        <p:spPr>
          <a:xfrm>
            <a:off x="8357616" y="3538728"/>
            <a:ext cx="310896" cy="310896"/>
          </a:xfrm>
          <a:prstGeom prst="ellipse">
            <a:avLst/>
          </a:prstGeom>
          <a:solidFill>
            <a:srgbClr val="1C7293"/>
          </a:solidFill>
          <a:ln/>
        </p:spPr>
      </p:sp>
      <p:sp>
        <p:nvSpPr>
          <p:cNvPr id="32" name="Text 30"/>
          <p:cNvSpPr txBox="1"/>
          <p:nvPr/>
        </p:nvSpPr>
        <p:spPr>
          <a:xfrm>
            <a:off x="8357616" y="35387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796528" y="34655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Payment Method</a:t>
            </a:r>
            <a:endParaRPr lang="en-US" sz="1350" dirty="0"/>
          </a:p>
        </p:txBody>
      </p:sp>
      <p:sp>
        <p:nvSpPr>
          <p:cNvPr id="34" name="Text 32"/>
          <p:cNvSpPr txBox="1"/>
          <p:nvPr/>
        </p:nvSpPr>
        <p:spPr>
          <a:xfrm>
            <a:off x="8796528" y="38221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Phương thức thanh toán</a:t>
            </a:r>
            <a:endParaRPr lang="en-US" sz="1080" dirty="0"/>
          </a:p>
        </p:txBody>
      </p:sp>
      <p:sp>
        <p:nvSpPr>
          <p:cNvPr id="35" name="Shape 33"/>
          <p:cNvSpPr/>
          <p:nvPr/>
        </p:nvSpPr>
        <p:spPr>
          <a:xfrm>
            <a:off x="457200" y="4709160"/>
            <a:ext cx="3575304" cy="1170432"/>
          </a:xfrm>
          <a:prstGeom prst="roundRect">
            <a:avLst>
              <a:gd name="adj" fmla="val 6250"/>
            </a:avLst>
          </a:prstGeom>
          <a:solidFill>
            <a:srgbClr val="FFFFFF"/>
          </a:solidFill>
          <a:ln w="12700">
            <a:solidFill>
              <a:srgbClr val="DCE6EC"/>
            </a:solidFill>
            <a:prstDash val="solid"/>
          </a:ln>
        </p:spPr>
      </p:sp>
      <p:sp>
        <p:nvSpPr>
          <p:cNvPr id="36" name="Shape 34"/>
          <p:cNvSpPr/>
          <p:nvPr/>
        </p:nvSpPr>
        <p:spPr>
          <a:xfrm>
            <a:off x="658368" y="4910328"/>
            <a:ext cx="310896" cy="310896"/>
          </a:xfrm>
          <a:prstGeom prst="ellipse">
            <a:avLst/>
          </a:prstGeom>
          <a:solidFill>
            <a:srgbClr val="1C7293"/>
          </a:solidFill>
          <a:ln/>
        </p:spPr>
      </p:sp>
      <p:sp>
        <p:nvSpPr>
          <p:cNvPr id="37" name="Text 35"/>
          <p:cNvSpPr txBox="1"/>
          <p:nvPr/>
        </p:nvSpPr>
        <p:spPr>
          <a:xfrm>
            <a:off x="658368" y="49103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8" name="Text 36"/>
          <p:cNvSpPr txBox="1"/>
          <p:nvPr/>
        </p:nvSpPr>
        <p:spPr>
          <a:xfrm>
            <a:off x="1097280" y="48371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Monthly Charges</a:t>
            </a:r>
            <a:endParaRPr lang="en-US" sz="1350" dirty="0"/>
          </a:p>
        </p:txBody>
      </p:sp>
      <p:sp>
        <p:nvSpPr>
          <p:cNvPr id="39" name="Text 37"/>
          <p:cNvSpPr txBox="1"/>
          <p:nvPr/>
        </p:nvSpPr>
        <p:spPr>
          <a:xfrm>
            <a:off x="1097280" y="51937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Chi phí dịch vụ hàng tháng</a:t>
            </a:r>
            <a:endParaRPr lang="en-US" sz="1080" dirty="0"/>
          </a:p>
        </p:txBody>
      </p:sp>
      <p:sp>
        <p:nvSpPr>
          <p:cNvPr id="40" name="Shape 38"/>
          <p:cNvSpPr/>
          <p:nvPr/>
        </p:nvSpPr>
        <p:spPr>
          <a:xfrm>
            <a:off x="4306824" y="4709160"/>
            <a:ext cx="3575304" cy="1170432"/>
          </a:xfrm>
          <a:prstGeom prst="roundRect">
            <a:avLst>
              <a:gd name="adj" fmla="val 6250"/>
            </a:avLst>
          </a:prstGeom>
          <a:solidFill>
            <a:srgbClr val="FFFFFF"/>
          </a:solidFill>
          <a:ln w="12700">
            <a:solidFill>
              <a:srgbClr val="DCE6EC"/>
            </a:solidFill>
            <a:prstDash val="solid"/>
          </a:ln>
        </p:spPr>
      </p:sp>
      <p:sp>
        <p:nvSpPr>
          <p:cNvPr id="41" name="Shape 39"/>
          <p:cNvSpPr/>
          <p:nvPr/>
        </p:nvSpPr>
        <p:spPr>
          <a:xfrm>
            <a:off x="4507992" y="4910328"/>
            <a:ext cx="310896" cy="310896"/>
          </a:xfrm>
          <a:prstGeom prst="ellipse">
            <a:avLst/>
          </a:prstGeom>
          <a:solidFill>
            <a:srgbClr val="1C7293"/>
          </a:solidFill>
          <a:ln/>
        </p:spPr>
      </p:sp>
      <p:sp>
        <p:nvSpPr>
          <p:cNvPr id="42" name="Text 40"/>
          <p:cNvSpPr txBox="1"/>
          <p:nvPr/>
        </p:nvSpPr>
        <p:spPr>
          <a:xfrm>
            <a:off x="4507992" y="49103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3" name="Text 41"/>
          <p:cNvSpPr txBox="1"/>
          <p:nvPr/>
        </p:nvSpPr>
        <p:spPr>
          <a:xfrm>
            <a:off x="4946904" y="48371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Total Charges</a:t>
            </a:r>
            <a:endParaRPr lang="en-US" sz="1350" dirty="0"/>
          </a:p>
        </p:txBody>
      </p:sp>
      <p:sp>
        <p:nvSpPr>
          <p:cNvPr id="44" name="Text 42"/>
          <p:cNvSpPr txBox="1"/>
          <p:nvPr/>
        </p:nvSpPr>
        <p:spPr>
          <a:xfrm>
            <a:off x="4946904" y="51937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Tổng chi phí đã thanh toán</a:t>
            </a:r>
            <a:endParaRPr lang="en-US" sz="1080" dirty="0"/>
          </a:p>
        </p:txBody>
      </p:sp>
      <p:sp>
        <p:nvSpPr>
          <p:cNvPr id="45" name="Shape 43"/>
          <p:cNvSpPr/>
          <p:nvPr/>
        </p:nvSpPr>
        <p:spPr>
          <a:xfrm>
            <a:off x="8156448" y="4709160"/>
            <a:ext cx="3575304" cy="1170432"/>
          </a:xfrm>
          <a:prstGeom prst="roundRect">
            <a:avLst>
              <a:gd name="adj" fmla="val 6250"/>
            </a:avLst>
          </a:prstGeom>
          <a:solidFill>
            <a:srgbClr val="FFFFFF"/>
          </a:solidFill>
          <a:ln w="19050">
            <a:solidFill>
              <a:srgbClr val="E4572E"/>
            </a:solidFill>
            <a:prstDash val="solid"/>
          </a:ln>
        </p:spPr>
      </p:sp>
      <p:sp>
        <p:nvSpPr>
          <p:cNvPr id="46" name="Shape 44"/>
          <p:cNvSpPr/>
          <p:nvPr/>
        </p:nvSpPr>
        <p:spPr>
          <a:xfrm>
            <a:off x="8357616" y="4910328"/>
            <a:ext cx="310896" cy="310896"/>
          </a:xfrm>
          <a:prstGeom prst="ellipse">
            <a:avLst/>
          </a:prstGeom>
          <a:solidFill>
            <a:srgbClr val="E4572E"/>
          </a:solidFill>
          <a:ln/>
        </p:spPr>
      </p:sp>
      <p:sp>
        <p:nvSpPr>
          <p:cNvPr id="47" name="Text 45"/>
          <p:cNvSpPr txBox="1"/>
          <p:nvPr/>
        </p:nvSpPr>
        <p:spPr>
          <a:xfrm>
            <a:off x="8357616" y="49103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8" name="Text 46"/>
          <p:cNvSpPr txBox="1"/>
          <p:nvPr/>
        </p:nvSpPr>
        <p:spPr>
          <a:xfrm>
            <a:off x="8796528" y="4837176"/>
            <a:ext cx="2752344" cy="365760"/>
          </a:xfrm>
          <a:prstGeom prst="rect">
            <a:avLst/>
          </a:prstGeom>
          <a:noFill/>
          <a:ln/>
        </p:spPr>
        <p:txBody>
          <a:bodyPr wrap="square" lIns="0" tIns="0" rIns="0" bIns="0" rtlCol="0" anchor="ctr"/>
          <a:lstStyle/>
          <a:p>
            <a:pPr indent="0" marL="0">
              <a:buNone/>
            </a:pPr>
            <a:r>
              <a:rPr lang="en-US" sz="1350" b="1" dirty="0">
                <a:solidFill>
                  <a:srgbClr val="0B3D5C"/>
                </a:solidFill>
                <a:latin typeface="Calibri" pitchFamily="34" charset="0"/>
                <a:ea typeface="Calibri" pitchFamily="34" charset="-122"/>
                <a:cs typeface="Calibri" pitchFamily="34" charset="-120"/>
              </a:rPr>
              <a:t>Churn Label</a:t>
            </a:r>
            <a:endParaRPr lang="en-US" sz="1350" dirty="0"/>
          </a:p>
        </p:txBody>
      </p:sp>
      <p:sp>
        <p:nvSpPr>
          <p:cNvPr id="49" name="Text 47"/>
          <p:cNvSpPr txBox="1"/>
          <p:nvPr/>
        </p:nvSpPr>
        <p:spPr>
          <a:xfrm>
            <a:off x="8796528" y="5193792"/>
            <a:ext cx="2752344" cy="594360"/>
          </a:xfrm>
          <a:prstGeom prst="rect">
            <a:avLst/>
          </a:prstGeom>
          <a:noFill/>
          <a:ln/>
        </p:spPr>
        <p:txBody>
          <a:bodyPr wrap="square" lIns="0" tIns="0" rIns="0" bIns="0" rtlCol="0" anchor="ctr"/>
          <a:lstStyle/>
          <a:p>
            <a:pPr indent="0" marL="0">
              <a:lnSpc>
                <a:spcPct val="110000"/>
              </a:lnSpc>
              <a:buNone/>
            </a:pPr>
            <a:r>
              <a:rPr lang="en-US" sz="1080" dirty="0">
                <a:solidFill>
                  <a:srgbClr val="5B6B78"/>
                </a:solidFill>
                <a:latin typeface="Calibri" pitchFamily="34" charset="0"/>
                <a:ea typeface="Calibri" pitchFamily="34" charset="-122"/>
                <a:cs typeface="Calibri" pitchFamily="34" charset="-120"/>
              </a:rPr>
              <a:t>Biến mục tiêu: Churn / No Churn</a:t>
            </a:r>
            <a:endParaRPr lang="en-US" sz="1080" dirty="0"/>
          </a:p>
        </p:txBody>
      </p:sp>
      <p:sp>
        <p:nvSpPr>
          <p:cNvPr id="50" name="Text 48"/>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51" name="Text 49"/>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1 · CƠ SỞ LÝ THUYẾT</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Bài toán phân loại &amp; chỉ số đánh giá</a:t>
            </a:r>
            <a:endParaRPr lang="en-US" sz="3000" dirty="0"/>
          </a:p>
        </p:txBody>
      </p:sp>
      <p:sp>
        <p:nvSpPr>
          <p:cNvPr id="5" name="Shape 3"/>
          <p:cNvSpPr/>
          <p:nvPr/>
        </p:nvSpPr>
        <p:spPr>
          <a:xfrm>
            <a:off x="457200" y="1965960"/>
            <a:ext cx="11274552" cy="1051560"/>
          </a:xfrm>
          <a:prstGeom prst="roundRect">
            <a:avLst>
              <a:gd name="adj" fmla="val 6957"/>
            </a:avLst>
          </a:prstGeom>
          <a:solidFill>
            <a:srgbClr val="F3F7FA"/>
          </a:solidFill>
          <a:ln/>
        </p:spPr>
      </p:sp>
      <p:sp>
        <p:nvSpPr>
          <p:cNvPr id="6" name="Text 4"/>
          <p:cNvSpPr txBox="1"/>
          <p:nvPr/>
        </p:nvSpPr>
        <p:spPr>
          <a:xfrm>
            <a:off x="731520" y="1965960"/>
            <a:ext cx="10725912" cy="1051560"/>
          </a:xfrm>
          <a:prstGeom prst="rect">
            <a:avLst/>
          </a:prstGeom>
          <a:noFill/>
          <a:ln/>
        </p:spPr>
        <p:txBody>
          <a:bodyPr wrap="square" lIns="0" tIns="0" rIns="0" bIns="0" rtlCol="0" anchor="ctr"/>
          <a:lstStyle/>
          <a:p>
            <a:pPr indent="0" marL="0">
              <a:lnSpc>
                <a:spcPct val="120000"/>
              </a:lnSpc>
              <a:buNone/>
            </a:pPr>
            <a:r>
              <a:rPr lang="en-US" sz="1400" b="1" dirty="0">
                <a:solidFill>
                  <a:srgbClr val="0B3D5C"/>
                </a:solidFill>
                <a:latin typeface="Calibri" pitchFamily="34" charset="0"/>
                <a:ea typeface="Calibri" pitchFamily="34" charset="-122"/>
                <a:cs typeface="Calibri" pitchFamily="34" charset="-120"/>
              </a:rPr>
              <a:t>Supervised Classification:  </a:t>
            </a:r>
            <a:pPr indent="0" marL="0">
              <a:lnSpc>
                <a:spcPct val="120000"/>
              </a:lnSpc>
              <a:buNone/>
            </a:pPr>
            <a:r>
              <a:rPr lang="en-US" sz="1400" dirty="0">
                <a:solidFill>
                  <a:srgbClr val="1F2937"/>
                </a:solidFill>
                <a:latin typeface="Calibri" pitchFamily="34" charset="0"/>
                <a:ea typeface="Calibri" pitchFamily="34" charset="-122"/>
                <a:cs typeface="Calibri" pitchFamily="34" charset="-120"/>
              </a:rPr>
              <a:t>thiết lập mô hình f(X) ánh xạ đặc trưng đầu vào X = (Tenure, Monthly Charges, Total Charges, ...) tới nhãn phân loại Churn / No Churn, dựa trên việc học từ dữ liệu lịch sử.</a:t>
            </a:r>
            <a:endParaRPr lang="en-US" sz="1400" dirty="0"/>
          </a:p>
        </p:txBody>
      </p:sp>
      <p:sp>
        <p:nvSpPr>
          <p:cNvPr id="7" name="Shape 5"/>
          <p:cNvSpPr/>
          <p:nvPr/>
        </p:nvSpPr>
        <p:spPr>
          <a:xfrm>
            <a:off x="457200" y="3337560"/>
            <a:ext cx="3575304" cy="2880360"/>
          </a:xfrm>
          <a:prstGeom prst="roundRect">
            <a:avLst>
              <a:gd name="adj" fmla="val 3175"/>
            </a:avLst>
          </a:prstGeom>
          <a:solidFill>
            <a:srgbClr val="F3F7FA"/>
          </a:solidFill>
          <a:ln/>
        </p:spPr>
      </p:sp>
      <p:sp>
        <p:nvSpPr>
          <p:cNvPr id="8" name="Shape 6"/>
          <p:cNvSpPr/>
          <p:nvPr/>
        </p:nvSpPr>
        <p:spPr>
          <a:xfrm>
            <a:off x="731520" y="3611880"/>
            <a:ext cx="502920" cy="502920"/>
          </a:xfrm>
          <a:prstGeom prst="ellipse">
            <a:avLst/>
          </a:prstGeom>
          <a:solidFill>
            <a:srgbClr val="1C7293"/>
          </a:solidFill>
          <a:ln/>
        </p:spPr>
      </p:sp>
      <p:sp>
        <p:nvSpPr>
          <p:cNvPr id="9" name="Text 7"/>
          <p:cNvSpPr txBox="1"/>
          <p:nvPr/>
        </p:nvSpPr>
        <p:spPr>
          <a:xfrm>
            <a:off x="731520" y="36118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txBox="1"/>
          <p:nvPr/>
        </p:nvSpPr>
        <p:spPr>
          <a:xfrm>
            <a:off x="731520" y="4251960"/>
            <a:ext cx="3026664" cy="411480"/>
          </a:xfrm>
          <a:prstGeom prst="rect">
            <a:avLst/>
          </a:prstGeom>
          <a:noFill/>
          <a:ln/>
        </p:spPr>
        <p:txBody>
          <a:bodyPr wrap="square" lIns="0" tIns="0" rIns="0" bIns="0" rtlCol="0" anchor="ctr"/>
          <a:lstStyle/>
          <a:p>
            <a:pPr indent="0" marL="0">
              <a:buNone/>
            </a:pPr>
            <a:r>
              <a:rPr lang="en-US" sz="1800" b="1" dirty="0">
                <a:solidFill>
                  <a:srgbClr val="0B3D5C"/>
                </a:solidFill>
                <a:latin typeface="Cambria" pitchFamily="34" charset="0"/>
                <a:ea typeface="Cambria" pitchFamily="34" charset="-122"/>
                <a:cs typeface="Cambria" pitchFamily="34" charset="-120"/>
              </a:rPr>
              <a:t>Accuracy</a:t>
            </a:r>
            <a:endParaRPr lang="en-US" sz="1800" dirty="0"/>
          </a:p>
        </p:txBody>
      </p:sp>
      <p:sp>
        <p:nvSpPr>
          <p:cNvPr id="11" name="Text 9"/>
          <p:cNvSpPr txBox="1"/>
          <p:nvPr/>
        </p:nvSpPr>
        <p:spPr>
          <a:xfrm>
            <a:off x="731520" y="4709160"/>
            <a:ext cx="3026664" cy="1371600"/>
          </a:xfrm>
          <a:prstGeom prst="rect">
            <a:avLst/>
          </a:prstGeom>
          <a:noFill/>
          <a:ln/>
        </p:spPr>
        <p:txBody>
          <a:bodyPr wrap="square" lIns="0" tIns="0" rIns="0" bIns="0" rtlCol="0" anchor="ctr"/>
          <a:lstStyle/>
          <a:p>
            <a:pPr indent="0" marL="0">
              <a:lnSpc>
                <a:spcPct val="125000"/>
              </a:lnSpc>
              <a:buNone/>
            </a:pPr>
            <a:r>
              <a:rPr lang="en-US" sz="1200" dirty="0">
                <a:solidFill>
                  <a:srgbClr val="5B6B78"/>
                </a:solidFill>
                <a:latin typeface="Calibri" pitchFamily="34" charset="0"/>
                <a:ea typeface="Calibri" pitchFamily="34" charset="-122"/>
                <a:cs typeface="Calibri" pitchFamily="34" charset="-120"/>
              </a:rPr>
              <a:t>Tỷ lệ dự đoán đúng trên tổng số mẫu dữ liệu kiểm tra.</a:t>
            </a:r>
            <a:endParaRPr lang="en-US" sz="1200" dirty="0"/>
          </a:p>
        </p:txBody>
      </p:sp>
      <p:sp>
        <p:nvSpPr>
          <p:cNvPr id="12" name="Shape 10"/>
          <p:cNvSpPr/>
          <p:nvPr/>
        </p:nvSpPr>
        <p:spPr>
          <a:xfrm>
            <a:off x="4306824" y="3337560"/>
            <a:ext cx="3575304" cy="2880360"/>
          </a:xfrm>
          <a:prstGeom prst="roundRect">
            <a:avLst>
              <a:gd name="adj" fmla="val 3175"/>
            </a:avLst>
          </a:prstGeom>
          <a:solidFill>
            <a:srgbClr val="0B3D5C"/>
          </a:solidFill>
          <a:ln/>
        </p:spPr>
      </p:sp>
      <p:sp>
        <p:nvSpPr>
          <p:cNvPr id="13" name="Shape 11"/>
          <p:cNvSpPr/>
          <p:nvPr/>
        </p:nvSpPr>
        <p:spPr>
          <a:xfrm>
            <a:off x="4581144" y="3611880"/>
            <a:ext cx="502920" cy="502920"/>
          </a:xfrm>
          <a:prstGeom prst="ellipse">
            <a:avLst/>
          </a:prstGeom>
          <a:solidFill>
            <a:srgbClr val="FFFFFF"/>
          </a:solidFill>
          <a:ln/>
        </p:spPr>
      </p:sp>
      <p:sp>
        <p:nvSpPr>
          <p:cNvPr id="14" name="Text 12"/>
          <p:cNvSpPr txBox="1"/>
          <p:nvPr/>
        </p:nvSpPr>
        <p:spPr>
          <a:xfrm>
            <a:off x="4581144" y="3611880"/>
            <a:ext cx="502920" cy="502920"/>
          </a:xfrm>
          <a:prstGeom prst="rect">
            <a:avLst/>
          </a:prstGeom>
          <a:noFill/>
          <a:ln/>
        </p:spPr>
        <p:txBody>
          <a:bodyPr wrap="square" lIns="0" tIns="0" rIns="0" bIns="0" rtlCol="0" anchor="ctr"/>
          <a:lstStyle/>
          <a:p>
            <a:pPr algn="ctr" indent="0" marL="0">
              <a:buNone/>
            </a:pPr>
            <a:r>
              <a:rPr lang="en-US" sz="1800" b="1" dirty="0">
                <a:solidFill>
                  <a:srgbClr val="0B3D5C"/>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4581144" y="4251960"/>
            <a:ext cx="3026664"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Precision</a:t>
            </a:r>
            <a:endParaRPr lang="en-US" sz="1800" dirty="0"/>
          </a:p>
        </p:txBody>
      </p:sp>
      <p:sp>
        <p:nvSpPr>
          <p:cNvPr id="16" name="Text 14"/>
          <p:cNvSpPr txBox="1"/>
          <p:nvPr/>
        </p:nvSpPr>
        <p:spPr>
          <a:xfrm>
            <a:off x="4581144" y="4709160"/>
            <a:ext cx="3026664" cy="1371600"/>
          </a:xfrm>
          <a:prstGeom prst="rect">
            <a:avLst/>
          </a:prstGeom>
          <a:noFill/>
          <a:ln/>
        </p:spPr>
        <p:txBody>
          <a:bodyPr wrap="square" lIns="0" tIns="0" rIns="0" bIns="0" rtlCol="0" anchor="ctr"/>
          <a:lstStyle/>
          <a:p>
            <a:pPr indent="0" marL="0">
              <a:lnSpc>
                <a:spcPct val="125000"/>
              </a:lnSpc>
              <a:buNone/>
            </a:pPr>
            <a:r>
              <a:rPr lang="en-US" sz="1200" dirty="0">
                <a:solidFill>
                  <a:srgbClr val="E8F1F6"/>
                </a:solidFill>
                <a:latin typeface="Calibri" pitchFamily="34" charset="0"/>
                <a:ea typeface="Calibri" pitchFamily="34" charset="-122"/>
                <a:cs typeface="Calibri" pitchFamily="34" charset="-120"/>
              </a:rPr>
              <a:t>Tỷ lệ khách hàng dự đoán rời bỏ mà thực sự rời bỏ.</a:t>
            </a:r>
            <a:endParaRPr lang="en-US" sz="1200" dirty="0"/>
          </a:p>
        </p:txBody>
      </p:sp>
      <p:sp>
        <p:nvSpPr>
          <p:cNvPr id="17" name="Shape 15"/>
          <p:cNvSpPr/>
          <p:nvPr/>
        </p:nvSpPr>
        <p:spPr>
          <a:xfrm>
            <a:off x="8156448" y="3337560"/>
            <a:ext cx="3575304" cy="2880360"/>
          </a:xfrm>
          <a:prstGeom prst="roundRect">
            <a:avLst>
              <a:gd name="adj" fmla="val 3175"/>
            </a:avLst>
          </a:prstGeom>
          <a:solidFill>
            <a:srgbClr val="F3F7FA"/>
          </a:solidFill>
          <a:ln/>
        </p:spPr>
      </p:sp>
      <p:sp>
        <p:nvSpPr>
          <p:cNvPr id="18" name="Shape 16"/>
          <p:cNvSpPr/>
          <p:nvPr/>
        </p:nvSpPr>
        <p:spPr>
          <a:xfrm>
            <a:off x="8430768" y="3611880"/>
            <a:ext cx="502920" cy="502920"/>
          </a:xfrm>
          <a:prstGeom prst="ellipse">
            <a:avLst/>
          </a:prstGeom>
          <a:solidFill>
            <a:srgbClr val="1C7293"/>
          </a:solidFill>
          <a:ln/>
        </p:spPr>
      </p:sp>
      <p:sp>
        <p:nvSpPr>
          <p:cNvPr id="19" name="Text 17"/>
          <p:cNvSpPr txBox="1"/>
          <p:nvPr/>
        </p:nvSpPr>
        <p:spPr>
          <a:xfrm>
            <a:off x="8430768" y="36118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txBox="1"/>
          <p:nvPr/>
        </p:nvSpPr>
        <p:spPr>
          <a:xfrm>
            <a:off x="8430768" y="4251960"/>
            <a:ext cx="3026664" cy="411480"/>
          </a:xfrm>
          <a:prstGeom prst="rect">
            <a:avLst/>
          </a:prstGeom>
          <a:noFill/>
          <a:ln/>
        </p:spPr>
        <p:txBody>
          <a:bodyPr wrap="square" lIns="0" tIns="0" rIns="0" bIns="0" rtlCol="0" anchor="ctr"/>
          <a:lstStyle/>
          <a:p>
            <a:pPr indent="0" marL="0">
              <a:buNone/>
            </a:pPr>
            <a:r>
              <a:rPr lang="en-US" sz="1800" b="1" dirty="0">
                <a:solidFill>
                  <a:srgbClr val="0B3D5C"/>
                </a:solidFill>
                <a:latin typeface="Cambria" pitchFamily="34" charset="0"/>
                <a:ea typeface="Cambria" pitchFamily="34" charset="-122"/>
                <a:cs typeface="Cambria" pitchFamily="34" charset="-120"/>
              </a:rPr>
              <a:t>Recall</a:t>
            </a:r>
            <a:endParaRPr lang="en-US" sz="1800" dirty="0"/>
          </a:p>
        </p:txBody>
      </p:sp>
      <p:sp>
        <p:nvSpPr>
          <p:cNvPr id="21" name="Text 19"/>
          <p:cNvSpPr txBox="1"/>
          <p:nvPr/>
        </p:nvSpPr>
        <p:spPr>
          <a:xfrm>
            <a:off x="8430768" y="4709160"/>
            <a:ext cx="3026664" cy="1371600"/>
          </a:xfrm>
          <a:prstGeom prst="rect">
            <a:avLst/>
          </a:prstGeom>
          <a:noFill/>
          <a:ln/>
        </p:spPr>
        <p:txBody>
          <a:bodyPr wrap="square" lIns="0" tIns="0" rIns="0" bIns="0" rtlCol="0" anchor="ctr"/>
          <a:lstStyle/>
          <a:p>
            <a:pPr indent="0" marL="0">
              <a:lnSpc>
                <a:spcPct val="125000"/>
              </a:lnSpc>
              <a:buNone/>
            </a:pPr>
            <a:r>
              <a:rPr lang="en-US" sz="1200" dirty="0">
                <a:solidFill>
                  <a:srgbClr val="5B6B78"/>
                </a:solidFill>
                <a:latin typeface="Calibri" pitchFamily="34" charset="0"/>
                <a:ea typeface="Calibri" pitchFamily="34" charset="-122"/>
                <a:cs typeface="Calibri" pitchFamily="34" charset="-120"/>
              </a:rPr>
              <a:t>Tỷ lệ khách hàng rời bỏ thực tế được mô hình phát hiện đúng.</a:t>
            </a:r>
            <a:endParaRPr lang="en-US" sz="1200" dirty="0"/>
          </a:p>
        </p:txBody>
      </p:sp>
      <p:sp>
        <p:nvSpPr>
          <p:cNvPr id="22" name="Text 20"/>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23" name="Text 21"/>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1 · THUẬT TOÁN</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Các thuật toán học máy sử dụng</a:t>
            </a:r>
            <a:endParaRPr lang="en-US" sz="3000" dirty="0"/>
          </a:p>
        </p:txBody>
      </p:sp>
      <p:sp>
        <p:nvSpPr>
          <p:cNvPr id="5" name="Text 3"/>
          <p:cNvSpPr txBox="1"/>
          <p:nvPr/>
        </p:nvSpPr>
        <p:spPr>
          <a:xfrm>
            <a:off x="457200" y="1371600"/>
            <a:ext cx="11247120" cy="365760"/>
          </a:xfrm>
          <a:prstGeom prst="rect">
            <a:avLst/>
          </a:prstGeom>
          <a:noFill/>
          <a:ln/>
        </p:spPr>
        <p:txBody>
          <a:bodyPr wrap="square" lIns="0" tIns="0" rIns="0" bIns="0" rtlCol="0" anchor="ctr"/>
          <a:lstStyle/>
          <a:p>
            <a:pPr algn="l" indent="0" marL="0">
              <a:buNone/>
            </a:pPr>
            <a:r>
              <a:rPr lang="en-US" sz="1300" i="1" dirty="0">
                <a:solidFill>
                  <a:srgbClr val="5B6B78"/>
                </a:solidFill>
                <a:latin typeface="Calibri" pitchFamily="34" charset="0"/>
                <a:ea typeface="Calibri" pitchFamily="34" charset="-122"/>
                <a:cs typeface="Calibri" pitchFamily="34" charset="-120"/>
              </a:rPr>
              <a:t>So sánh công bằng 4 thuật toán phân loại thuộc các nhóm phương pháp khác nhau</a:t>
            </a:r>
            <a:endParaRPr lang="en-US" sz="1300" dirty="0"/>
          </a:p>
        </p:txBody>
      </p:sp>
      <p:sp>
        <p:nvSpPr>
          <p:cNvPr id="6" name="Shape 4"/>
          <p:cNvSpPr/>
          <p:nvPr/>
        </p:nvSpPr>
        <p:spPr>
          <a:xfrm>
            <a:off x="457200" y="2148840"/>
            <a:ext cx="5477256" cy="1783080"/>
          </a:xfrm>
          <a:prstGeom prst="roundRect">
            <a:avLst>
              <a:gd name="adj" fmla="val 5128"/>
            </a:avLst>
          </a:prstGeom>
          <a:solidFill>
            <a:srgbClr val="FFFFFF"/>
          </a:solidFill>
          <a:ln/>
        </p:spPr>
      </p:sp>
      <p:sp>
        <p:nvSpPr>
          <p:cNvPr id="7" name="Shape 5"/>
          <p:cNvSpPr/>
          <p:nvPr/>
        </p:nvSpPr>
        <p:spPr>
          <a:xfrm>
            <a:off x="713232" y="2404872"/>
            <a:ext cx="822960" cy="822960"/>
          </a:xfrm>
          <a:prstGeom prst="roundRect">
            <a:avLst>
              <a:gd name="adj" fmla="val 15556"/>
            </a:avLst>
          </a:prstGeom>
          <a:solidFill>
            <a:srgbClr val="0B3D5C"/>
          </a:solidFill>
          <a:ln/>
        </p:spPr>
      </p:sp>
      <p:sp>
        <p:nvSpPr>
          <p:cNvPr id="8" name="Text 6"/>
          <p:cNvSpPr txBox="1"/>
          <p:nvPr/>
        </p:nvSpPr>
        <p:spPr>
          <a:xfrm>
            <a:off x="713232" y="2404872"/>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KNN</a:t>
            </a:r>
            <a:endParaRPr lang="en-US" sz="1800" dirty="0"/>
          </a:p>
        </p:txBody>
      </p:sp>
      <p:sp>
        <p:nvSpPr>
          <p:cNvPr id="9" name="Text 7"/>
          <p:cNvSpPr txBox="1"/>
          <p:nvPr/>
        </p:nvSpPr>
        <p:spPr>
          <a:xfrm>
            <a:off x="1691640" y="2368296"/>
            <a:ext cx="4014216" cy="365760"/>
          </a:xfrm>
          <a:prstGeom prst="rect">
            <a:avLst/>
          </a:prstGeom>
          <a:noFill/>
          <a:ln/>
        </p:spPr>
        <p:txBody>
          <a:bodyPr wrap="square" lIns="0" tIns="0" rIns="0" bIns="0" rtlCol="0" anchor="ctr"/>
          <a:lstStyle/>
          <a:p>
            <a:pPr indent="0" marL="0">
              <a:buNone/>
            </a:pPr>
            <a:r>
              <a:rPr lang="en-US" sz="1500" b="1" dirty="0">
                <a:solidFill>
                  <a:srgbClr val="0B3D5C"/>
                </a:solidFill>
                <a:latin typeface="Calibri" pitchFamily="34" charset="0"/>
                <a:ea typeface="Calibri" pitchFamily="34" charset="-122"/>
                <a:cs typeface="Calibri" pitchFamily="34" charset="-120"/>
              </a:rPr>
              <a:t>K-Nearest Neighbors</a:t>
            </a:r>
            <a:endParaRPr lang="en-US" sz="1500" dirty="0"/>
          </a:p>
        </p:txBody>
      </p:sp>
      <p:sp>
        <p:nvSpPr>
          <p:cNvPr id="10" name="Text 8"/>
          <p:cNvSpPr txBox="1"/>
          <p:nvPr/>
        </p:nvSpPr>
        <p:spPr>
          <a:xfrm>
            <a:off x="1691640" y="2743200"/>
            <a:ext cx="4014216" cy="1051560"/>
          </a:xfrm>
          <a:prstGeom prst="rect">
            <a:avLst/>
          </a:prstGeom>
          <a:noFill/>
          <a:ln/>
        </p:spPr>
        <p:txBody>
          <a:bodyPr wrap="square" lIns="0" tIns="0" rIns="0" bIns="0" rtlCol="0" anchor="ctr"/>
          <a:lstStyle/>
          <a:p>
            <a:pPr indent="0" marL="0">
              <a:lnSpc>
                <a:spcPct val="120000"/>
              </a:lnSpc>
              <a:buNone/>
            </a:pPr>
            <a:r>
              <a:rPr lang="en-US" sz="1130" dirty="0">
                <a:solidFill>
                  <a:srgbClr val="5B6B78"/>
                </a:solidFill>
                <a:latin typeface="Calibri" pitchFamily="34" charset="0"/>
                <a:ea typeface="Calibri" pitchFamily="34" charset="-122"/>
                <a:cs typeface="Calibri" pitchFamily="34" charset="-120"/>
              </a:rPr>
              <a:t>Tìm k khách hàng gần nhất trong không gian đặc trưng, bỏ phiếu theo lớp chiếm đa số. Trực quan, dễ hiểu.</a:t>
            </a:r>
            <a:endParaRPr lang="en-US" sz="1130" dirty="0"/>
          </a:p>
        </p:txBody>
      </p:sp>
      <p:sp>
        <p:nvSpPr>
          <p:cNvPr id="11" name="Shape 9"/>
          <p:cNvSpPr/>
          <p:nvPr/>
        </p:nvSpPr>
        <p:spPr>
          <a:xfrm>
            <a:off x="6254496" y="2148840"/>
            <a:ext cx="5477256" cy="1783080"/>
          </a:xfrm>
          <a:prstGeom prst="roundRect">
            <a:avLst>
              <a:gd name="adj" fmla="val 5128"/>
            </a:avLst>
          </a:prstGeom>
          <a:solidFill>
            <a:srgbClr val="FFFFFF"/>
          </a:solidFill>
          <a:ln/>
        </p:spPr>
      </p:sp>
      <p:sp>
        <p:nvSpPr>
          <p:cNvPr id="12" name="Shape 10"/>
          <p:cNvSpPr/>
          <p:nvPr/>
        </p:nvSpPr>
        <p:spPr>
          <a:xfrm>
            <a:off x="6510528" y="2404872"/>
            <a:ext cx="822960" cy="822960"/>
          </a:xfrm>
          <a:prstGeom prst="roundRect">
            <a:avLst>
              <a:gd name="adj" fmla="val 15556"/>
            </a:avLst>
          </a:prstGeom>
          <a:solidFill>
            <a:srgbClr val="0B3D5C"/>
          </a:solidFill>
          <a:ln/>
        </p:spPr>
      </p:sp>
      <p:sp>
        <p:nvSpPr>
          <p:cNvPr id="13" name="Text 11"/>
          <p:cNvSpPr txBox="1"/>
          <p:nvPr/>
        </p:nvSpPr>
        <p:spPr>
          <a:xfrm>
            <a:off x="6510528" y="2404872"/>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NB</a:t>
            </a:r>
            <a:endParaRPr lang="en-US" sz="1800" dirty="0"/>
          </a:p>
        </p:txBody>
      </p:sp>
      <p:sp>
        <p:nvSpPr>
          <p:cNvPr id="14" name="Text 12"/>
          <p:cNvSpPr txBox="1"/>
          <p:nvPr/>
        </p:nvSpPr>
        <p:spPr>
          <a:xfrm>
            <a:off x="7488936" y="2368296"/>
            <a:ext cx="4014216" cy="365760"/>
          </a:xfrm>
          <a:prstGeom prst="rect">
            <a:avLst/>
          </a:prstGeom>
          <a:noFill/>
          <a:ln/>
        </p:spPr>
        <p:txBody>
          <a:bodyPr wrap="square" lIns="0" tIns="0" rIns="0" bIns="0" rtlCol="0" anchor="ctr"/>
          <a:lstStyle/>
          <a:p>
            <a:pPr indent="0" marL="0">
              <a:buNone/>
            </a:pPr>
            <a:r>
              <a:rPr lang="en-US" sz="1500" b="1" dirty="0">
                <a:solidFill>
                  <a:srgbClr val="0B3D5C"/>
                </a:solidFill>
                <a:latin typeface="Calibri" pitchFamily="34" charset="0"/>
                <a:ea typeface="Calibri" pitchFamily="34" charset="-122"/>
                <a:cs typeface="Calibri" pitchFamily="34" charset="-120"/>
              </a:rPr>
              <a:t>Naive Bayes</a:t>
            </a:r>
            <a:endParaRPr lang="en-US" sz="1500" dirty="0"/>
          </a:p>
        </p:txBody>
      </p:sp>
      <p:sp>
        <p:nvSpPr>
          <p:cNvPr id="15" name="Text 13"/>
          <p:cNvSpPr txBox="1"/>
          <p:nvPr/>
        </p:nvSpPr>
        <p:spPr>
          <a:xfrm>
            <a:off x="7488936" y="2743200"/>
            <a:ext cx="4014216" cy="1051560"/>
          </a:xfrm>
          <a:prstGeom prst="rect">
            <a:avLst/>
          </a:prstGeom>
          <a:noFill/>
          <a:ln/>
        </p:spPr>
        <p:txBody>
          <a:bodyPr wrap="square" lIns="0" tIns="0" rIns="0" bIns="0" rtlCol="0" anchor="ctr"/>
          <a:lstStyle/>
          <a:p>
            <a:pPr indent="0" marL="0">
              <a:lnSpc>
                <a:spcPct val="120000"/>
              </a:lnSpc>
              <a:buNone/>
            </a:pPr>
            <a:r>
              <a:rPr lang="en-US" sz="1130" dirty="0">
                <a:solidFill>
                  <a:srgbClr val="5B6B78"/>
                </a:solidFill>
                <a:latin typeface="Calibri" pitchFamily="34" charset="0"/>
                <a:ea typeface="Calibri" pitchFamily="34" charset="-122"/>
                <a:cs typeface="Calibri" pitchFamily="34" charset="-120"/>
              </a:rPr>
              <a:t>Dựa trên định lý Bayes, giả định các đặc trưng độc lập có điều kiện. Huấn luyện và dự đoán nhanh.</a:t>
            </a:r>
            <a:endParaRPr lang="en-US" sz="1130" dirty="0"/>
          </a:p>
        </p:txBody>
      </p:sp>
      <p:sp>
        <p:nvSpPr>
          <p:cNvPr id="16" name="Shape 14"/>
          <p:cNvSpPr/>
          <p:nvPr/>
        </p:nvSpPr>
        <p:spPr>
          <a:xfrm>
            <a:off x="457200" y="4187952"/>
            <a:ext cx="5477256" cy="1783080"/>
          </a:xfrm>
          <a:prstGeom prst="roundRect">
            <a:avLst>
              <a:gd name="adj" fmla="val 5128"/>
            </a:avLst>
          </a:prstGeom>
          <a:solidFill>
            <a:srgbClr val="FFFFFF"/>
          </a:solidFill>
          <a:ln/>
        </p:spPr>
      </p:sp>
      <p:sp>
        <p:nvSpPr>
          <p:cNvPr id="17" name="Shape 15"/>
          <p:cNvSpPr/>
          <p:nvPr/>
        </p:nvSpPr>
        <p:spPr>
          <a:xfrm>
            <a:off x="713232" y="4443984"/>
            <a:ext cx="822960" cy="822960"/>
          </a:xfrm>
          <a:prstGeom prst="roundRect">
            <a:avLst>
              <a:gd name="adj" fmla="val 15556"/>
            </a:avLst>
          </a:prstGeom>
          <a:solidFill>
            <a:srgbClr val="0B3D5C"/>
          </a:solidFill>
          <a:ln/>
        </p:spPr>
      </p:sp>
      <p:sp>
        <p:nvSpPr>
          <p:cNvPr id="18" name="Text 16"/>
          <p:cNvSpPr txBox="1"/>
          <p:nvPr/>
        </p:nvSpPr>
        <p:spPr>
          <a:xfrm>
            <a:off x="713232" y="4443984"/>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DT</a:t>
            </a:r>
            <a:endParaRPr lang="en-US" sz="1800" dirty="0"/>
          </a:p>
        </p:txBody>
      </p:sp>
      <p:sp>
        <p:nvSpPr>
          <p:cNvPr id="19" name="Text 17"/>
          <p:cNvSpPr txBox="1"/>
          <p:nvPr/>
        </p:nvSpPr>
        <p:spPr>
          <a:xfrm>
            <a:off x="1691640" y="4407408"/>
            <a:ext cx="4014216" cy="365760"/>
          </a:xfrm>
          <a:prstGeom prst="rect">
            <a:avLst/>
          </a:prstGeom>
          <a:noFill/>
          <a:ln/>
        </p:spPr>
        <p:txBody>
          <a:bodyPr wrap="square" lIns="0" tIns="0" rIns="0" bIns="0" rtlCol="0" anchor="ctr"/>
          <a:lstStyle/>
          <a:p>
            <a:pPr indent="0" marL="0">
              <a:buNone/>
            </a:pPr>
            <a:r>
              <a:rPr lang="en-US" sz="1500" b="1" dirty="0">
                <a:solidFill>
                  <a:srgbClr val="0B3D5C"/>
                </a:solidFill>
                <a:latin typeface="Calibri" pitchFamily="34" charset="0"/>
                <a:ea typeface="Calibri" pitchFamily="34" charset="-122"/>
                <a:cs typeface="Calibri" pitchFamily="34" charset="-120"/>
              </a:rPr>
              <a:t>Decision Tree</a:t>
            </a:r>
            <a:endParaRPr lang="en-US" sz="1500" dirty="0"/>
          </a:p>
        </p:txBody>
      </p:sp>
      <p:sp>
        <p:nvSpPr>
          <p:cNvPr id="20" name="Text 18"/>
          <p:cNvSpPr txBox="1"/>
          <p:nvPr/>
        </p:nvSpPr>
        <p:spPr>
          <a:xfrm>
            <a:off x="1691640" y="4782312"/>
            <a:ext cx="4014216" cy="1051560"/>
          </a:xfrm>
          <a:prstGeom prst="rect">
            <a:avLst/>
          </a:prstGeom>
          <a:noFill/>
          <a:ln/>
        </p:spPr>
        <p:txBody>
          <a:bodyPr wrap="square" lIns="0" tIns="0" rIns="0" bIns="0" rtlCol="0" anchor="ctr"/>
          <a:lstStyle/>
          <a:p>
            <a:pPr indent="0" marL="0">
              <a:lnSpc>
                <a:spcPct val="120000"/>
              </a:lnSpc>
              <a:buNone/>
            </a:pPr>
            <a:r>
              <a:rPr lang="en-US" sz="1130" dirty="0">
                <a:solidFill>
                  <a:srgbClr val="5B6B78"/>
                </a:solidFill>
                <a:latin typeface="Calibri" pitchFamily="34" charset="0"/>
                <a:ea typeface="Calibri" pitchFamily="34" charset="-122"/>
                <a:cs typeface="Calibri" pitchFamily="34" charset="-120"/>
              </a:rPr>
              <a:t>Xây dựng cây quyết định gồm các nút chia dữ liệu. Dễ trực quan hóa và giải thích quyết định.</a:t>
            </a:r>
            <a:endParaRPr lang="en-US" sz="1130" dirty="0"/>
          </a:p>
        </p:txBody>
      </p:sp>
      <p:sp>
        <p:nvSpPr>
          <p:cNvPr id="21" name="Shape 19"/>
          <p:cNvSpPr/>
          <p:nvPr/>
        </p:nvSpPr>
        <p:spPr>
          <a:xfrm>
            <a:off x="6254496" y="4187952"/>
            <a:ext cx="5477256" cy="1783080"/>
          </a:xfrm>
          <a:prstGeom prst="roundRect">
            <a:avLst>
              <a:gd name="adj" fmla="val 5128"/>
            </a:avLst>
          </a:prstGeom>
          <a:solidFill>
            <a:srgbClr val="FFFFFF"/>
          </a:solidFill>
          <a:ln/>
        </p:spPr>
      </p:sp>
      <p:sp>
        <p:nvSpPr>
          <p:cNvPr id="22" name="Shape 20"/>
          <p:cNvSpPr/>
          <p:nvPr/>
        </p:nvSpPr>
        <p:spPr>
          <a:xfrm>
            <a:off x="6510528" y="4443984"/>
            <a:ext cx="822960" cy="822960"/>
          </a:xfrm>
          <a:prstGeom prst="roundRect">
            <a:avLst>
              <a:gd name="adj" fmla="val 15556"/>
            </a:avLst>
          </a:prstGeom>
          <a:solidFill>
            <a:srgbClr val="0B3D5C"/>
          </a:solidFill>
          <a:ln/>
        </p:spPr>
      </p:sp>
      <p:sp>
        <p:nvSpPr>
          <p:cNvPr id="23" name="Text 21"/>
          <p:cNvSpPr txBox="1"/>
          <p:nvPr/>
        </p:nvSpPr>
        <p:spPr>
          <a:xfrm>
            <a:off x="6510528" y="4443984"/>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LR</a:t>
            </a:r>
            <a:endParaRPr lang="en-US" sz="1800" dirty="0"/>
          </a:p>
        </p:txBody>
      </p:sp>
      <p:sp>
        <p:nvSpPr>
          <p:cNvPr id="24" name="Text 22"/>
          <p:cNvSpPr txBox="1"/>
          <p:nvPr/>
        </p:nvSpPr>
        <p:spPr>
          <a:xfrm>
            <a:off x="7488936" y="4407408"/>
            <a:ext cx="4014216" cy="365760"/>
          </a:xfrm>
          <a:prstGeom prst="rect">
            <a:avLst/>
          </a:prstGeom>
          <a:noFill/>
          <a:ln/>
        </p:spPr>
        <p:txBody>
          <a:bodyPr wrap="square" lIns="0" tIns="0" rIns="0" bIns="0" rtlCol="0" anchor="ctr"/>
          <a:lstStyle/>
          <a:p>
            <a:pPr indent="0" marL="0">
              <a:buNone/>
            </a:pPr>
            <a:r>
              <a:rPr lang="en-US" sz="1500" b="1" dirty="0">
                <a:solidFill>
                  <a:srgbClr val="0B3D5C"/>
                </a:solidFill>
                <a:latin typeface="Calibri" pitchFamily="34" charset="0"/>
                <a:ea typeface="Calibri" pitchFamily="34" charset="-122"/>
                <a:cs typeface="Calibri" pitchFamily="34" charset="-120"/>
              </a:rPr>
              <a:t>Logistic Regression</a:t>
            </a:r>
            <a:endParaRPr lang="en-US" sz="1500" dirty="0"/>
          </a:p>
        </p:txBody>
      </p:sp>
      <p:sp>
        <p:nvSpPr>
          <p:cNvPr id="25" name="Text 23"/>
          <p:cNvSpPr txBox="1"/>
          <p:nvPr/>
        </p:nvSpPr>
        <p:spPr>
          <a:xfrm>
            <a:off x="7488936" y="4782312"/>
            <a:ext cx="4014216" cy="1051560"/>
          </a:xfrm>
          <a:prstGeom prst="rect">
            <a:avLst/>
          </a:prstGeom>
          <a:noFill/>
          <a:ln/>
        </p:spPr>
        <p:txBody>
          <a:bodyPr wrap="square" lIns="0" tIns="0" rIns="0" bIns="0" rtlCol="0" anchor="ctr"/>
          <a:lstStyle/>
          <a:p>
            <a:pPr indent="0" marL="0">
              <a:lnSpc>
                <a:spcPct val="120000"/>
              </a:lnSpc>
              <a:buNone/>
            </a:pPr>
            <a:r>
              <a:rPr lang="en-US" sz="1130" dirty="0">
                <a:solidFill>
                  <a:srgbClr val="5B6B78"/>
                </a:solidFill>
                <a:latin typeface="Calibri" pitchFamily="34" charset="0"/>
                <a:ea typeface="Calibri" pitchFamily="34" charset="-122"/>
                <a:cs typeface="Calibri" pitchFamily="34" charset="-120"/>
              </a:rPr>
              <a:t>Dùng hàm Logistic chuyển tổ hợp đặc trưng thành xác suất khách hàng thuộc một lớp nhất định.</a:t>
            </a:r>
            <a:endParaRPr lang="en-US" sz="1130" dirty="0"/>
          </a:p>
        </p:txBody>
      </p:sp>
      <p:sp>
        <p:nvSpPr>
          <p:cNvPr id="26" name="Text 24"/>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27" name="Text 2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2 · EDA</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Khảo sát cấu trúc &amp; thống kê mô tả</a:t>
            </a:r>
            <a:endParaRPr lang="en-US" sz="3000" dirty="0"/>
          </a:p>
        </p:txBody>
      </p:sp>
      <p:sp>
        <p:nvSpPr>
          <p:cNvPr id="5" name="Text 3"/>
          <p:cNvSpPr txBox="1"/>
          <p:nvPr/>
        </p:nvSpPr>
        <p:spPr>
          <a:xfrm>
            <a:off x="457200" y="1371600"/>
            <a:ext cx="11247120" cy="365760"/>
          </a:xfrm>
          <a:prstGeom prst="rect">
            <a:avLst/>
          </a:prstGeom>
          <a:noFill/>
          <a:ln/>
        </p:spPr>
        <p:txBody>
          <a:bodyPr wrap="square" lIns="0" tIns="0" rIns="0" bIns="0" rtlCol="0" anchor="ctr"/>
          <a:lstStyle/>
          <a:p>
            <a:pPr algn="l" indent="0" marL="0">
              <a:buNone/>
            </a:pPr>
            <a:r>
              <a:rPr lang="en-US" sz="1300" i="1" dirty="0">
                <a:solidFill>
                  <a:srgbClr val="5B6B78"/>
                </a:solidFill>
                <a:latin typeface="Calibri" pitchFamily="34" charset="0"/>
                <a:ea typeface="Calibri" pitchFamily="34" charset="-122"/>
                <a:cs typeface="Calibri" pitchFamily="34" charset="-120"/>
              </a:rPr>
              <a:t>Phân tích khám phá dữ liệu (EDA) — bước đệm chiến lược trước khi mô hình hóa</a:t>
            </a:r>
            <a:endParaRPr lang="en-US" sz="1300" dirty="0"/>
          </a:p>
        </p:txBody>
      </p:sp>
      <p:sp>
        <p:nvSpPr>
          <p:cNvPr id="6" name="Shape 4"/>
          <p:cNvSpPr/>
          <p:nvPr/>
        </p:nvSpPr>
        <p:spPr>
          <a:xfrm>
            <a:off x="457200" y="2103120"/>
            <a:ext cx="2612898" cy="1234440"/>
          </a:xfrm>
          <a:prstGeom prst="roundRect">
            <a:avLst>
              <a:gd name="adj" fmla="val 5926"/>
            </a:avLst>
          </a:prstGeom>
          <a:solidFill>
            <a:srgbClr val="F3F7FA"/>
          </a:solidFill>
          <a:ln/>
        </p:spPr>
      </p:sp>
      <p:sp>
        <p:nvSpPr>
          <p:cNvPr id="7" name="Text 5"/>
          <p:cNvSpPr txBox="1"/>
          <p:nvPr/>
        </p:nvSpPr>
        <p:spPr>
          <a:xfrm>
            <a:off x="594360" y="2267712"/>
            <a:ext cx="2338578" cy="502920"/>
          </a:xfrm>
          <a:prstGeom prst="rect">
            <a:avLst/>
          </a:prstGeom>
          <a:noFill/>
          <a:ln/>
        </p:spPr>
        <p:txBody>
          <a:bodyPr wrap="square" lIns="0" tIns="0" rIns="0" bIns="0" rtlCol="0" anchor="ctr"/>
          <a:lstStyle/>
          <a:p>
            <a:pPr algn="ctr" indent="0" marL="0">
              <a:buNone/>
            </a:pPr>
            <a:r>
              <a:rPr lang="en-US" sz="1900" b="1" dirty="0">
                <a:solidFill>
                  <a:srgbClr val="0B3D5C"/>
                </a:solidFill>
                <a:latin typeface="Cambria" pitchFamily="34" charset="0"/>
                <a:ea typeface="Cambria" pitchFamily="34" charset="-122"/>
                <a:cs typeface="Cambria" pitchFamily="34" charset="-120"/>
              </a:rPr>
              <a:t>7.043</a:t>
            </a:r>
            <a:endParaRPr lang="en-US" sz="1900" dirty="0"/>
          </a:p>
        </p:txBody>
      </p:sp>
      <p:sp>
        <p:nvSpPr>
          <p:cNvPr id="8" name="Text 6"/>
          <p:cNvSpPr txBox="1"/>
          <p:nvPr/>
        </p:nvSpPr>
        <p:spPr>
          <a:xfrm>
            <a:off x="594360" y="2816352"/>
            <a:ext cx="2338578" cy="411480"/>
          </a:xfrm>
          <a:prstGeom prst="rect">
            <a:avLst/>
          </a:prstGeom>
          <a:noFill/>
          <a:ln/>
        </p:spPr>
        <p:txBody>
          <a:bodyPr wrap="square" lIns="0" tIns="0" rIns="0" bIns="0" rtlCol="0" anchor="ctr"/>
          <a:lstStyle/>
          <a:p>
            <a:pPr algn="ctr" indent="0" marL="0">
              <a:buNone/>
            </a:pPr>
            <a:r>
              <a:rPr lang="en-US" sz="1100" dirty="0">
                <a:solidFill>
                  <a:srgbClr val="5B6B78"/>
                </a:solidFill>
                <a:latin typeface="Calibri" pitchFamily="34" charset="0"/>
                <a:ea typeface="Calibri" pitchFamily="34" charset="-122"/>
                <a:cs typeface="Calibri" pitchFamily="34" charset="-120"/>
              </a:rPr>
              <a:t>bản ghi (N)</a:t>
            </a:r>
            <a:endParaRPr lang="en-US" sz="1100" dirty="0"/>
          </a:p>
        </p:txBody>
      </p:sp>
      <p:sp>
        <p:nvSpPr>
          <p:cNvPr id="9" name="Shape 7"/>
          <p:cNvSpPr/>
          <p:nvPr/>
        </p:nvSpPr>
        <p:spPr>
          <a:xfrm>
            <a:off x="3344418" y="2103120"/>
            <a:ext cx="2612898" cy="1234440"/>
          </a:xfrm>
          <a:prstGeom prst="roundRect">
            <a:avLst>
              <a:gd name="adj" fmla="val 5926"/>
            </a:avLst>
          </a:prstGeom>
          <a:solidFill>
            <a:srgbClr val="F3F7FA"/>
          </a:solidFill>
          <a:ln/>
        </p:spPr>
      </p:sp>
      <p:sp>
        <p:nvSpPr>
          <p:cNvPr id="10" name="Text 8"/>
          <p:cNvSpPr txBox="1"/>
          <p:nvPr/>
        </p:nvSpPr>
        <p:spPr>
          <a:xfrm>
            <a:off x="3481578" y="2267712"/>
            <a:ext cx="2338578" cy="502920"/>
          </a:xfrm>
          <a:prstGeom prst="rect">
            <a:avLst/>
          </a:prstGeom>
          <a:noFill/>
          <a:ln/>
        </p:spPr>
        <p:txBody>
          <a:bodyPr wrap="square" lIns="0" tIns="0" rIns="0" bIns="0" rtlCol="0" anchor="ctr"/>
          <a:lstStyle/>
          <a:p>
            <a:pPr algn="ctr" indent="0" marL="0">
              <a:buNone/>
            </a:pPr>
            <a:r>
              <a:rPr lang="en-US" sz="1900" b="1" dirty="0">
                <a:solidFill>
                  <a:srgbClr val="0B3D5C"/>
                </a:solidFill>
                <a:latin typeface="Cambria" pitchFamily="34" charset="0"/>
                <a:ea typeface="Cambria" pitchFamily="34" charset="-122"/>
                <a:cs typeface="Cambria" pitchFamily="34" charset="-120"/>
              </a:rPr>
              <a:t>≈ 32 tháng</a:t>
            </a:r>
            <a:endParaRPr lang="en-US" sz="1900" dirty="0"/>
          </a:p>
        </p:txBody>
      </p:sp>
      <p:sp>
        <p:nvSpPr>
          <p:cNvPr id="11" name="Text 9"/>
          <p:cNvSpPr txBox="1"/>
          <p:nvPr/>
        </p:nvSpPr>
        <p:spPr>
          <a:xfrm>
            <a:off x="3481578" y="2816352"/>
            <a:ext cx="2338578" cy="411480"/>
          </a:xfrm>
          <a:prstGeom prst="rect">
            <a:avLst/>
          </a:prstGeom>
          <a:noFill/>
          <a:ln/>
        </p:spPr>
        <p:txBody>
          <a:bodyPr wrap="square" lIns="0" tIns="0" rIns="0" bIns="0" rtlCol="0" anchor="ctr"/>
          <a:lstStyle/>
          <a:p>
            <a:pPr algn="ctr" indent="0" marL="0">
              <a:buNone/>
            </a:pPr>
            <a:r>
              <a:rPr lang="en-US" sz="1100" dirty="0">
                <a:solidFill>
                  <a:srgbClr val="5B6B78"/>
                </a:solidFill>
                <a:latin typeface="Calibri" pitchFamily="34" charset="0"/>
                <a:ea typeface="Calibri" pitchFamily="34" charset="-122"/>
                <a:cs typeface="Calibri" pitchFamily="34" charset="-120"/>
              </a:rPr>
              <a:t>Tenure trung bình</a:t>
            </a:r>
            <a:endParaRPr lang="en-US" sz="1100" dirty="0"/>
          </a:p>
        </p:txBody>
      </p:sp>
      <p:sp>
        <p:nvSpPr>
          <p:cNvPr id="12" name="Shape 10"/>
          <p:cNvSpPr/>
          <p:nvPr/>
        </p:nvSpPr>
        <p:spPr>
          <a:xfrm>
            <a:off x="6231636" y="2103120"/>
            <a:ext cx="2612898" cy="1234440"/>
          </a:xfrm>
          <a:prstGeom prst="roundRect">
            <a:avLst>
              <a:gd name="adj" fmla="val 5926"/>
            </a:avLst>
          </a:prstGeom>
          <a:solidFill>
            <a:srgbClr val="F3F7FA"/>
          </a:solidFill>
          <a:ln/>
        </p:spPr>
      </p:sp>
      <p:sp>
        <p:nvSpPr>
          <p:cNvPr id="13" name="Text 11"/>
          <p:cNvSpPr txBox="1"/>
          <p:nvPr/>
        </p:nvSpPr>
        <p:spPr>
          <a:xfrm>
            <a:off x="6368796" y="2267712"/>
            <a:ext cx="2338578" cy="502920"/>
          </a:xfrm>
          <a:prstGeom prst="rect">
            <a:avLst/>
          </a:prstGeom>
          <a:noFill/>
          <a:ln/>
        </p:spPr>
        <p:txBody>
          <a:bodyPr wrap="square" lIns="0" tIns="0" rIns="0" bIns="0" rtlCol="0" anchor="ctr"/>
          <a:lstStyle/>
          <a:p>
            <a:pPr algn="ctr" indent="0" marL="0">
              <a:buNone/>
            </a:pPr>
            <a:r>
              <a:rPr lang="en-US" sz="1900" b="1" dirty="0">
                <a:solidFill>
                  <a:srgbClr val="0B3D5C"/>
                </a:solidFill>
                <a:latin typeface="Cambria" pitchFamily="34" charset="0"/>
                <a:ea typeface="Cambria" pitchFamily="34" charset="-122"/>
                <a:cs typeface="Cambria" pitchFamily="34" charset="-120"/>
              </a:rPr>
              <a:t>biến động lớn</a:t>
            </a:r>
            <a:endParaRPr lang="en-US" sz="1900" dirty="0"/>
          </a:p>
        </p:txBody>
      </p:sp>
      <p:sp>
        <p:nvSpPr>
          <p:cNvPr id="14" name="Text 12"/>
          <p:cNvSpPr txBox="1"/>
          <p:nvPr/>
        </p:nvSpPr>
        <p:spPr>
          <a:xfrm>
            <a:off x="6368796" y="2816352"/>
            <a:ext cx="2338578" cy="411480"/>
          </a:xfrm>
          <a:prstGeom prst="rect">
            <a:avLst/>
          </a:prstGeom>
          <a:noFill/>
          <a:ln/>
        </p:spPr>
        <p:txBody>
          <a:bodyPr wrap="square" lIns="0" tIns="0" rIns="0" bIns="0" rtlCol="0" anchor="ctr"/>
          <a:lstStyle/>
          <a:p>
            <a:pPr algn="ctr" indent="0" marL="0">
              <a:buNone/>
            </a:pPr>
            <a:r>
              <a:rPr lang="en-US" sz="1100" dirty="0">
                <a:solidFill>
                  <a:srgbClr val="5B6B78"/>
                </a:solidFill>
                <a:latin typeface="Calibri" pitchFamily="34" charset="0"/>
                <a:ea typeface="Calibri" pitchFamily="34" charset="-122"/>
                <a:cs typeface="Calibri" pitchFamily="34" charset="-120"/>
              </a:rPr>
              <a:t>Monthly Charges</a:t>
            </a:r>
            <a:endParaRPr lang="en-US" sz="1100" dirty="0"/>
          </a:p>
        </p:txBody>
      </p:sp>
      <p:sp>
        <p:nvSpPr>
          <p:cNvPr id="15" name="Shape 13"/>
          <p:cNvSpPr/>
          <p:nvPr/>
        </p:nvSpPr>
        <p:spPr>
          <a:xfrm>
            <a:off x="9118854" y="2103120"/>
            <a:ext cx="2612898" cy="1234440"/>
          </a:xfrm>
          <a:prstGeom prst="roundRect">
            <a:avLst>
              <a:gd name="adj" fmla="val 5926"/>
            </a:avLst>
          </a:prstGeom>
          <a:solidFill>
            <a:srgbClr val="F3F7FA"/>
          </a:solidFill>
          <a:ln/>
        </p:spPr>
      </p:sp>
      <p:sp>
        <p:nvSpPr>
          <p:cNvPr id="16" name="Text 14"/>
          <p:cNvSpPr txBox="1"/>
          <p:nvPr/>
        </p:nvSpPr>
        <p:spPr>
          <a:xfrm>
            <a:off x="9256014" y="2267712"/>
            <a:ext cx="2338578" cy="502920"/>
          </a:xfrm>
          <a:prstGeom prst="rect">
            <a:avLst/>
          </a:prstGeom>
          <a:noFill/>
          <a:ln/>
        </p:spPr>
        <p:txBody>
          <a:bodyPr wrap="square" lIns="0" tIns="0" rIns="0" bIns="0" rtlCol="0" anchor="ctr"/>
          <a:lstStyle/>
          <a:p>
            <a:pPr algn="ctr" indent="0" marL="0">
              <a:buNone/>
            </a:pPr>
            <a:r>
              <a:rPr lang="en-US" sz="1900" b="1" dirty="0">
                <a:solidFill>
                  <a:srgbClr val="0B3D5C"/>
                </a:solidFill>
                <a:latin typeface="Cambria" pitchFamily="34" charset="0"/>
                <a:ea typeface="Cambria" pitchFamily="34" charset="-122"/>
                <a:cs typeface="Cambria" pitchFamily="34" charset="-120"/>
              </a:rPr>
              <a:t>2 nhóm</a:t>
            </a:r>
            <a:endParaRPr lang="en-US" sz="1900" dirty="0"/>
          </a:p>
        </p:txBody>
      </p:sp>
      <p:sp>
        <p:nvSpPr>
          <p:cNvPr id="17" name="Text 15"/>
          <p:cNvSpPr txBox="1"/>
          <p:nvPr/>
        </p:nvSpPr>
        <p:spPr>
          <a:xfrm>
            <a:off x="9256014" y="2816352"/>
            <a:ext cx="2338578" cy="411480"/>
          </a:xfrm>
          <a:prstGeom prst="rect">
            <a:avLst/>
          </a:prstGeom>
          <a:noFill/>
          <a:ln/>
        </p:spPr>
        <p:txBody>
          <a:bodyPr wrap="square" lIns="0" tIns="0" rIns="0" bIns="0" rtlCol="0" anchor="ctr"/>
          <a:lstStyle/>
          <a:p>
            <a:pPr algn="ctr" indent="0" marL="0">
              <a:buNone/>
            </a:pPr>
            <a:r>
              <a:rPr lang="en-US" sz="1100" dirty="0">
                <a:solidFill>
                  <a:srgbClr val="5B6B78"/>
                </a:solidFill>
                <a:latin typeface="Calibri" pitchFamily="34" charset="0"/>
                <a:ea typeface="Calibri" pitchFamily="34" charset="-122"/>
                <a:cs typeface="Calibri" pitchFamily="34" charset="-120"/>
              </a:rPr>
              <a:t>Churn / No Churn</a:t>
            </a:r>
            <a:endParaRPr lang="en-US" sz="1100" dirty="0"/>
          </a:p>
        </p:txBody>
      </p:sp>
      <p:sp>
        <p:nvSpPr>
          <p:cNvPr id="18" name="Text 16"/>
          <p:cNvSpPr txBox="1"/>
          <p:nvPr/>
        </p:nvSpPr>
        <p:spPr>
          <a:xfrm>
            <a:off x="457200" y="3611880"/>
            <a:ext cx="11247120" cy="502920"/>
          </a:xfrm>
          <a:prstGeom prst="rect">
            <a:avLst/>
          </a:prstGeom>
          <a:noFill/>
          <a:ln/>
        </p:spPr>
        <p:txBody>
          <a:bodyPr wrap="square" lIns="0" tIns="0" rIns="0" bIns="0" rtlCol="0" anchor="t"/>
          <a:lstStyle/>
          <a:p>
            <a:pPr indent="0" marL="0">
              <a:lnSpc>
                <a:spcPct val="115000"/>
              </a:lnSpc>
              <a:buNone/>
            </a:pPr>
            <a:r>
              <a:rPr lang="en-US" sz="1300" b="1" dirty="0">
                <a:solidFill>
                  <a:srgbClr val="1C7293"/>
                </a:solidFill>
                <a:latin typeface="Calibri" pitchFamily="34" charset="0"/>
                <a:ea typeface="Calibri" pitchFamily="34" charset="-122"/>
                <a:cs typeface="Calibri" pitchFamily="34" charset="-120"/>
              </a:rPr>
              <a:t>Tenure Months:  </a:t>
            </a:r>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Giá trị trung bình khoảng 32 tháng — dữ liệu bao gồm cả khách hàng mới và khách hàng lâu năm.</a:t>
            </a:r>
            <a:endParaRPr lang="en-US" sz="1300" dirty="0"/>
          </a:p>
        </p:txBody>
      </p:sp>
      <p:sp>
        <p:nvSpPr>
          <p:cNvPr id="19" name="Text 17"/>
          <p:cNvSpPr txBox="1"/>
          <p:nvPr/>
        </p:nvSpPr>
        <p:spPr>
          <a:xfrm>
            <a:off x="457200" y="4178808"/>
            <a:ext cx="11247120" cy="502920"/>
          </a:xfrm>
          <a:prstGeom prst="rect">
            <a:avLst/>
          </a:prstGeom>
          <a:noFill/>
          <a:ln/>
        </p:spPr>
        <p:txBody>
          <a:bodyPr wrap="square" lIns="0" tIns="0" rIns="0" bIns="0" rtlCol="0" anchor="t"/>
          <a:lstStyle/>
          <a:p>
            <a:pPr indent="0" marL="0">
              <a:lnSpc>
                <a:spcPct val="115000"/>
              </a:lnSpc>
              <a:buNone/>
            </a:pPr>
            <a:r>
              <a:rPr lang="en-US" sz="1300" b="1" dirty="0">
                <a:solidFill>
                  <a:srgbClr val="1C7293"/>
                </a:solidFill>
                <a:latin typeface="Calibri" pitchFamily="34" charset="0"/>
                <a:ea typeface="Calibri" pitchFamily="34" charset="-122"/>
                <a:cs typeface="Calibri" pitchFamily="34" charset="-120"/>
              </a:rPr>
              <a:t>Monthly Charges:  </a:t>
            </a:r>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Có sự biến thiên đáng kể tùy thuộc loại dịch vụ và gói cước khách hàng sử dụng.</a:t>
            </a:r>
            <a:endParaRPr lang="en-US" sz="1300" dirty="0"/>
          </a:p>
        </p:txBody>
      </p:sp>
      <p:sp>
        <p:nvSpPr>
          <p:cNvPr id="20" name="Text 18"/>
          <p:cNvSpPr txBox="1"/>
          <p:nvPr/>
        </p:nvSpPr>
        <p:spPr>
          <a:xfrm>
            <a:off x="457200" y="4745736"/>
            <a:ext cx="11247120" cy="502920"/>
          </a:xfrm>
          <a:prstGeom prst="rect">
            <a:avLst/>
          </a:prstGeom>
          <a:noFill/>
          <a:ln/>
        </p:spPr>
        <p:txBody>
          <a:bodyPr wrap="square" lIns="0" tIns="0" rIns="0" bIns="0" rtlCol="0" anchor="t"/>
          <a:lstStyle/>
          <a:p>
            <a:pPr indent="0" marL="0">
              <a:lnSpc>
                <a:spcPct val="115000"/>
              </a:lnSpc>
              <a:buNone/>
            </a:pPr>
            <a:r>
              <a:rPr lang="en-US" sz="1300" b="1" dirty="0">
                <a:solidFill>
                  <a:srgbClr val="1C7293"/>
                </a:solidFill>
                <a:latin typeface="Calibri" pitchFamily="34" charset="0"/>
                <a:ea typeface="Calibri" pitchFamily="34" charset="-122"/>
                <a:cs typeface="Calibri" pitchFamily="34" charset="-120"/>
              </a:rPr>
              <a:t>Total Charges:  </a:t>
            </a:r>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Có sự khác biệt giữa các khách hàng do thời gian sử dụng và mức phí khác nhau.</a:t>
            </a:r>
            <a:endParaRPr lang="en-US" sz="1300" dirty="0"/>
          </a:p>
        </p:txBody>
      </p:sp>
      <p:sp>
        <p:nvSpPr>
          <p:cNvPr id="21" name="Text 19"/>
          <p:cNvSpPr txBox="1"/>
          <p:nvPr/>
        </p:nvSpPr>
        <p:spPr>
          <a:xfrm>
            <a:off x="457200" y="5312664"/>
            <a:ext cx="11247120" cy="502920"/>
          </a:xfrm>
          <a:prstGeom prst="rect">
            <a:avLst/>
          </a:prstGeom>
          <a:noFill/>
          <a:ln/>
        </p:spPr>
        <p:txBody>
          <a:bodyPr wrap="square" lIns="0" tIns="0" rIns="0" bIns="0" rtlCol="0" anchor="t"/>
          <a:lstStyle/>
          <a:p>
            <a:pPr indent="0" marL="0">
              <a:lnSpc>
                <a:spcPct val="115000"/>
              </a:lnSpc>
              <a:buNone/>
            </a:pPr>
            <a:r>
              <a:rPr lang="en-US" sz="1300" b="1" dirty="0">
                <a:solidFill>
                  <a:srgbClr val="1C7293"/>
                </a:solidFill>
                <a:latin typeface="Calibri" pitchFamily="34" charset="0"/>
                <a:ea typeface="Calibri" pitchFamily="34" charset="-122"/>
                <a:cs typeface="Calibri" pitchFamily="34" charset="-120"/>
              </a:rPr>
              <a:t>Churn Label:  </a:t>
            </a:r>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Biến mục tiêu, chia thành hai nhóm chính Churn và No Churn.</a:t>
            </a:r>
            <a:endParaRPr lang="en-US" sz="1300" dirty="0"/>
          </a:p>
        </p:txBody>
      </p:sp>
      <p:sp>
        <p:nvSpPr>
          <p:cNvPr id="22" name="Text 20"/>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23" name="Text 21"/>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2 · EDA</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Biểu đồ 1 — Phân bố Churn</a:t>
            </a:r>
            <a:endParaRPr lang="en-US" sz="3000" dirty="0"/>
          </a:p>
        </p:txBody>
      </p:sp>
      <p:pic>
        <p:nvPicPr>
          <p:cNvPr id="5" name="Image 0" descr="assets/chart_churn_dist.png">    </p:cNvPr>
          <p:cNvPicPr>
            <a:picLocks noChangeAspect="1"/>
          </p:cNvPicPr>
          <p:nvPr/>
        </p:nvPicPr>
        <p:blipFill>
          <a:blip r:embed="rId1"/>
          <a:stretch>
            <a:fillRect/>
          </a:stretch>
        </p:blipFill>
        <p:spPr>
          <a:xfrm>
            <a:off x="457200" y="1874520"/>
            <a:ext cx="6126480" cy="4160520"/>
          </a:xfrm>
          <a:prstGeom prst="rect">
            <a:avLst/>
          </a:prstGeom>
        </p:spPr>
      </p:pic>
      <p:sp>
        <p:nvSpPr>
          <p:cNvPr id="6" name="Shape 3"/>
          <p:cNvSpPr/>
          <p:nvPr/>
        </p:nvSpPr>
        <p:spPr>
          <a:xfrm>
            <a:off x="6903720" y="1920240"/>
            <a:ext cx="4828032" cy="914400"/>
          </a:xfrm>
          <a:prstGeom prst="roundRect">
            <a:avLst>
              <a:gd name="adj" fmla="val 8000"/>
            </a:avLst>
          </a:prstGeom>
          <a:solidFill>
            <a:srgbClr val="F3F7FA"/>
          </a:solidFill>
          <a:ln/>
        </p:spPr>
      </p:sp>
      <p:sp>
        <p:nvSpPr>
          <p:cNvPr id="7" name="Text 4"/>
          <p:cNvSpPr txBox="1"/>
          <p:nvPr/>
        </p:nvSpPr>
        <p:spPr>
          <a:xfrm>
            <a:off x="7132320" y="1993392"/>
            <a:ext cx="1828800" cy="768096"/>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73,46%</a:t>
            </a:r>
            <a:endParaRPr lang="en-US" sz="2600" dirty="0"/>
          </a:p>
        </p:txBody>
      </p:sp>
      <p:sp>
        <p:nvSpPr>
          <p:cNvPr id="8" name="Text 5"/>
          <p:cNvSpPr txBox="1"/>
          <p:nvPr/>
        </p:nvSpPr>
        <p:spPr>
          <a:xfrm>
            <a:off x="9006840" y="1993392"/>
            <a:ext cx="2496312" cy="768096"/>
          </a:xfrm>
          <a:prstGeom prst="rect">
            <a:avLst/>
          </a:prstGeom>
          <a:noFill/>
          <a:ln/>
        </p:spPr>
        <p:txBody>
          <a:bodyPr wrap="square" lIns="0" tIns="0" rIns="0" bIns="0" rtlCol="0" anchor="ctr"/>
          <a:lstStyle/>
          <a:p>
            <a:pPr indent="0" marL="0">
              <a:lnSpc>
                <a:spcPct val="110000"/>
              </a:lnSpc>
              <a:buNone/>
            </a:pPr>
            <a:r>
              <a:rPr lang="en-US" sz="1250" dirty="0">
                <a:solidFill>
                  <a:srgbClr val="1F2937"/>
                </a:solidFill>
                <a:latin typeface="Calibri" pitchFamily="34" charset="0"/>
                <a:ea typeface="Calibri" pitchFamily="34" charset="-122"/>
                <a:cs typeface="Calibri" pitchFamily="34" charset="-120"/>
              </a:rPr>
              <a:t>khách hàng KHÔNG rời mạng</a:t>
            </a:r>
            <a:endParaRPr lang="en-US" sz="1250" dirty="0"/>
          </a:p>
        </p:txBody>
      </p:sp>
      <p:sp>
        <p:nvSpPr>
          <p:cNvPr id="9" name="Shape 6"/>
          <p:cNvSpPr/>
          <p:nvPr/>
        </p:nvSpPr>
        <p:spPr>
          <a:xfrm>
            <a:off x="6903720" y="2999232"/>
            <a:ext cx="4828032" cy="914400"/>
          </a:xfrm>
          <a:prstGeom prst="roundRect">
            <a:avLst>
              <a:gd name="adj" fmla="val 8000"/>
            </a:avLst>
          </a:prstGeom>
          <a:solidFill>
            <a:srgbClr val="F3F7FA"/>
          </a:solidFill>
          <a:ln/>
        </p:spPr>
      </p:sp>
      <p:sp>
        <p:nvSpPr>
          <p:cNvPr id="10" name="Text 7"/>
          <p:cNvSpPr txBox="1"/>
          <p:nvPr/>
        </p:nvSpPr>
        <p:spPr>
          <a:xfrm>
            <a:off x="7132320" y="3072384"/>
            <a:ext cx="1828800" cy="768096"/>
          </a:xfrm>
          <a:prstGeom prst="rect">
            <a:avLst/>
          </a:prstGeom>
          <a:noFill/>
          <a:ln/>
        </p:spPr>
        <p:txBody>
          <a:bodyPr wrap="square" lIns="0" tIns="0" rIns="0" bIns="0" rtlCol="0" anchor="ctr"/>
          <a:lstStyle/>
          <a:p>
            <a:pPr indent="0" marL="0">
              <a:buNone/>
            </a:pPr>
            <a:r>
              <a:rPr lang="en-US" sz="2600" b="1" dirty="0">
                <a:solidFill>
                  <a:srgbClr val="E4572E"/>
                </a:solidFill>
                <a:latin typeface="Cambria" pitchFamily="34" charset="0"/>
                <a:ea typeface="Cambria" pitchFamily="34" charset="-122"/>
                <a:cs typeface="Cambria" pitchFamily="34" charset="-120"/>
              </a:rPr>
              <a:t>26,54%</a:t>
            </a:r>
            <a:endParaRPr lang="en-US" sz="2600" dirty="0"/>
          </a:p>
        </p:txBody>
      </p:sp>
      <p:sp>
        <p:nvSpPr>
          <p:cNvPr id="11" name="Text 8"/>
          <p:cNvSpPr txBox="1"/>
          <p:nvPr/>
        </p:nvSpPr>
        <p:spPr>
          <a:xfrm>
            <a:off x="9006840" y="3072384"/>
            <a:ext cx="2496312" cy="768096"/>
          </a:xfrm>
          <a:prstGeom prst="rect">
            <a:avLst/>
          </a:prstGeom>
          <a:noFill/>
          <a:ln/>
        </p:spPr>
        <p:txBody>
          <a:bodyPr wrap="square" lIns="0" tIns="0" rIns="0" bIns="0" rtlCol="0" anchor="ctr"/>
          <a:lstStyle/>
          <a:p>
            <a:pPr indent="0" marL="0">
              <a:lnSpc>
                <a:spcPct val="110000"/>
              </a:lnSpc>
              <a:buNone/>
            </a:pPr>
            <a:r>
              <a:rPr lang="en-US" sz="1250" dirty="0">
                <a:solidFill>
                  <a:srgbClr val="1F2937"/>
                </a:solidFill>
                <a:latin typeface="Calibri" pitchFamily="34" charset="0"/>
                <a:ea typeface="Calibri" pitchFamily="34" charset="-122"/>
                <a:cs typeface="Calibri" pitchFamily="34" charset="-120"/>
              </a:rPr>
              <a:t>khách hàng RỜI MẠNG</a:t>
            </a:r>
            <a:endParaRPr lang="en-US" sz="1250" dirty="0"/>
          </a:p>
        </p:txBody>
      </p:sp>
      <p:sp>
        <p:nvSpPr>
          <p:cNvPr id="12" name="Text 9"/>
          <p:cNvSpPr txBox="1"/>
          <p:nvPr/>
        </p:nvSpPr>
        <p:spPr>
          <a:xfrm>
            <a:off x="6903720" y="4206240"/>
            <a:ext cx="4828032" cy="1828800"/>
          </a:xfrm>
          <a:prstGeom prst="rect">
            <a:avLst/>
          </a:prstGeom>
          <a:noFill/>
          <a:ln/>
        </p:spPr>
        <p:txBody>
          <a:bodyPr wrap="square" lIns="0" tIns="0" rIns="0" bIns="0" rtlCol="0" anchor="t"/>
          <a:lstStyle/>
          <a:p>
            <a:pPr indent="0" marL="0">
              <a:lnSpc>
                <a:spcPct val="120000"/>
              </a:lnSpc>
              <a:buNone/>
            </a:pPr>
            <a:r>
              <a:rPr lang="en-US" sz="1250" b="1" dirty="0">
                <a:solidFill>
                  <a:srgbClr val="0B3D5C"/>
                </a:solidFill>
                <a:latin typeface="Calibri" pitchFamily="34" charset="0"/>
                <a:ea typeface="Calibri" pitchFamily="34" charset="-122"/>
                <a:cs typeface="Calibri" pitchFamily="34" charset="-120"/>
              </a:rPr>
              <a:t>Ý nghĩa: </a:t>
            </a:r>
            <a:endParaRPr lang="en-US" sz="1250" dirty="0"/>
          </a:p>
          <a:p>
            <a:pPr indent="0" marL="0">
              <a:lnSpc>
                <a:spcPct val="120000"/>
              </a:lnSpc>
              <a:spcAft>
                <a:spcPts val="1000"/>
              </a:spcAft>
              <a:buNone/>
            </a:pPr>
            <a:r>
              <a:rPr lang="en-US" sz="1250" dirty="0">
                <a:solidFill>
                  <a:srgbClr val="1F2937"/>
                </a:solidFill>
                <a:latin typeface="Calibri" pitchFamily="34" charset="0"/>
                <a:ea typeface="Calibri" pitchFamily="34" charset="-122"/>
                <a:cs typeface="Calibri" pitchFamily="34" charset="-120"/>
              </a:rPr>
              <a:t>Churn là lớp thiểu số — chỉ dùng Accuracy có thể che khuất khả năng phát hiện khách hàng thực sự rời mạng.</a:t>
            </a:r>
            <a:endParaRPr lang="en-US" sz="1250" dirty="0"/>
          </a:p>
          <a:p>
            <a:pPr indent="0" marL="0">
              <a:lnSpc>
                <a:spcPct val="120000"/>
              </a:lnSpc>
              <a:buNone/>
            </a:pPr>
            <a:r>
              <a:rPr lang="en-US" sz="1250" b="1" dirty="0">
                <a:solidFill>
                  <a:srgbClr val="0B3D5C"/>
                </a:solidFill>
                <a:latin typeface="Calibri" pitchFamily="34" charset="0"/>
                <a:ea typeface="Calibri" pitchFamily="34" charset="-122"/>
                <a:cs typeface="Calibri" pitchFamily="34" charset="-120"/>
              </a:rPr>
              <a:t>Quyết định xử lý: </a:t>
            </a:r>
            <a:endParaRPr lang="en-US" sz="1250" dirty="0"/>
          </a:p>
          <a:p>
            <a:pPr indent="0" marL="0">
              <a:lnSpc>
                <a:spcPct val="120000"/>
              </a:lnSpc>
              <a:buNone/>
            </a:pPr>
            <a:r>
              <a:rPr lang="en-US" sz="1250" dirty="0">
                <a:solidFill>
                  <a:srgbClr val="1F2937"/>
                </a:solidFill>
                <a:latin typeface="Calibri" pitchFamily="34" charset="0"/>
                <a:ea typeface="Calibri" pitchFamily="34" charset="-122"/>
                <a:cs typeface="Calibri" pitchFamily="34" charset="-120"/>
              </a:rPr>
              <a:t>Sử dụng stratified split khi chia dữ liệu, tập trung báo cáo Precision, Recall, F1 và ROC-AUC.</a:t>
            </a:r>
            <a:endParaRPr lang="en-US" sz="1250" dirty="0"/>
          </a:p>
        </p:txBody>
      </p:sp>
      <p:sp>
        <p:nvSpPr>
          <p:cNvPr id="13" name="Text 10"/>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14" name="Text 11"/>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2 · EDA</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Biểu đồ 2 &amp; 3 — Giới tính &amp; Loại hợp đồng</a:t>
            </a:r>
            <a:endParaRPr lang="en-US" sz="3000" dirty="0"/>
          </a:p>
        </p:txBody>
      </p:sp>
      <p:pic>
        <p:nvPicPr>
          <p:cNvPr id="5" name="Image 0" descr="assets/chart_gender.png">    </p:cNvPr>
          <p:cNvPicPr>
            <a:picLocks noChangeAspect="1"/>
          </p:cNvPicPr>
          <p:nvPr/>
        </p:nvPicPr>
        <p:blipFill>
          <a:blip r:embed="rId1"/>
          <a:stretch>
            <a:fillRect/>
          </a:stretch>
        </p:blipFill>
        <p:spPr>
          <a:xfrm>
            <a:off x="457200" y="1874520"/>
            <a:ext cx="5440680" cy="2971800"/>
          </a:xfrm>
          <a:prstGeom prst="rect">
            <a:avLst/>
          </a:prstGeom>
        </p:spPr>
      </p:pic>
      <p:pic>
        <p:nvPicPr>
          <p:cNvPr id="6" name="Image 1" descr="assets/chart_contract.png">    </p:cNvPr>
          <p:cNvPicPr>
            <a:picLocks noChangeAspect="1"/>
          </p:cNvPicPr>
          <p:nvPr/>
        </p:nvPicPr>
        <p:blipFill>
          <a:blip r:embed="rId2"/>
          <a:stretch>
            <a:fillRect/>
          </a:stretch>
        </p:blipFill>
        <p:spPr>
          <a:xfrm>
            <a:off x="6172200" y="1874520"/>
            <a:ext cx="5577840" cy="2971800"/>
          </a:xfrm>
          <a:prstGeom prst="rect">
            <a:avLst/>
          </a:prstGeom>
        </p:spPr>
      </p:pic>
      <p:sp>
        <p:nvSpPr>
          <p:cNvPr id="7" name="Shape 3"/>
          <p:cNvSpPr/>
          <p:nvPr/>
        </p:nvSpPr>
        <p:spPr>
          <a:xfrm>
            <a:off x="457200" y="5029200"/>
            <a:ext cx="5440680" cy="1097280"/>
          </a:xfrm>
          <a:prstGeom prst="roundRect">
            <a:avLst>
              <a:gd name="adj" fmla="val 6667"/>
            </a:avLst>
          </a:prstGeom>
          <a:solidFill>
            <a:srgbClr val="F3F7FA"/>
          </a:solidFill>
          <a:ln/>
        </p:spPr>
      </p:sp>
      <p:sp>
        <p:nvSpPr>
          <p:cNvPr id="8" name="Text 4"/>
          <p:cNvSpPr txBox="1"/>
          <p:nvPr/>
        </p:nvSpPr>
        <p:spPr>
          <a:xfrm>
            <a:off x="640080" y="5120640"/>
            <a:ext cx="5074920" cy="914400"/>
          </a:xfrm>
          <a:prstGeom prst="rect">
            <a:avLst/>
          </a:prstGeom>
          <a:noFill/>
          <a:ln/>
        </p:spPr>
        <p:txBody>
          <a:bodyPr wrap="square" lIns="0" tIns="0" rIns="0" bIns="0" rtlCol="0" anchor="t"/>
          <a:lstStyle/>
          <a:p>
            <a:pPr indent="0" marL="0">
              <a:lnSpc>
                <a:spcPct val="115000"/>
              </a:lnSpc>
              <a:buNone/>
            </a:pPr>
            <a:r>
              <a:rPr lang="en-US" sz="1200" b="1" dirty="0">
                <a:solidFill>
                  <a:srgbClr val="0B3D5C"/>
                </a:solidFill>
                <a:latin typeface="Calibri" pitchFamily="34" charset="0"/>
                <a:ea typeface="Calibri" pitchFamily="34" charset="-122"/>
                <a:cs typeface="Calibri" pitchFamily="34" charset="-120"/>
              </a:rPr>
              <a:t>Nữ 26,92%  •  Nam 26,16%. </a:t>
            </a:r>
            <a:endParaRPr lang="en-US" sz="1200" dirty="0"/>
          </a:p>
          <a:p>
            <a:pPr indent="0" marL="0">
              <a:lnSpc>
                <a:spcPct val="115000"/>
              </a:lnSpc>
              <a:buNone/>
            </a:pPr>
            <a:r>
              <a:rPr lang="en-US" sz="1150" dirty="0">
                <a:solidFill>
                  <a:srgbClr val="1F2937"/>
                </a:solidFill>
                <a:latin typeface="Calibri" pitchFamily="34" charset="0"/>
                <a:ea typeface="Calibri" pitchFamily="34" charset="-122"/>
                <a:cs typeface="Calibri" pitchFamily="34" charset="-120"/>
              </a:rPr>
              <a:t>Chênh lệch Churn theo giới tính khá nhỏ — giữ Gender, không diễn giải theo hướng nhân quả.</a:t>
            </a:r>
            <a:endParaRPr lang="en-US" sz="1200" dirty="0"/>
          </a:p>
        </p:txBody>
      </p:sp>
      <p:sp>
        <p:nvSpPr>
          <p:cNvPr id="9" name="Shape 5"/>
          <p:cNvSpPr/>
          <p:nvPr/>
        </p:nvSpPr>
        <p:spPr>
          <a:xfrm>
            <a:off x="6172200" y="5029200"/>
            <a:ext cx="5577840" cy="1097280"/>
          </a:xfrm>
          <a:prstGeom prst="roundRect">
            <a:avLst>
              <a:gd name="adj" fmla="val 6667"/>
            </a:avLst>
          </a:prstGeom>
          <a:solidFill>
            <a:srgbClr val="F3F7FA"/>
          </a:solidFill>
          <a:ln/>
        </p:spPr>
      </p:sp>
      <p:sp>
        <p:nvSpPr>
          <p:cNvPr id="10" name="Text 6"/>
          <p:cNvSpPr txBox="1"/>
          <p:nvPr/>
        </p:nvSpPr>
        <p:spPr>
          <a:xfrm>
            <a:off x="6355080" y="5120640"/>
            <a:ext cx="5212080" cy="914400"/>
          </a:xfrm>
          <a:prstGeom prst="rect">
            <a:avLst/>
          </a:prstGeom>
          <a:noFill/>
          <a:ln/>
        </p:spPr>
        <p:txBody>
          <a:bodyPr wrap="square" lIns="0" tIns="0" rIns="0" bIns="0" rtlCol="0" anchor="t"/>
          <a:lstStyle/>
          <a:p>
            <a:pPr indent="0" marL="0">
              <a:lnSpc>
                <a:spcPct val="115000"/>
              </a:lnSpc>
              <a:buNone/>
            </a:pPr>
            <a:r>
              <a:rPr lang="en-US" sz="1200" b="1" dirty="0">
                <a:solidFill>
                  <a:srgbClr val="0B3D5C"/>
                </a:solidFill>
                <a:latin typeface="Calibri" pitchFamily="34" charset="0"/>
                <a:ea typeface="Calibri" pitchFamily="34" charset="-122"/>
                <a:cs typeface="Calibri" pitchFamily="34" charset="-120"/>
              </a:rPr>
              <a:t>Month-to-month 42,71%  •  1 năm 11,27%  •  2 năm 2,83%. </a:t>
            </a:r>
            <a:endParaRPr lang="en-US" sz="1200" dirty="0"/>
          </a:p>
          <a:p>
            <a:pPr indent="0" marL="0">
              <a:lnSpc>
                <a:spcPct val="115000"/>
              </a:lnSpc>
              <a:buNone/>
            </a:pPr>
            <a:r>
              <a:rPr lang="en-US" sz="1150" dirty="0">
                <a:solidFill>
                  <a:srgbClr val="1F2937"/>
                </a:solidFill>
                <a:latin typeface="Calibri" pitchFamily="34" charset="0"/>
                <a:ea typeface="Calibri" pitchFamily="34" charset="-122"/>
                <a:cs typeface="Calibri" pitchFamily="34" charset="-120"/>
              </a:rPr>
              <a:t>Hợp đồng ngắn hạn có tỷ lệ Churn cao hơn rõ rệt — mã hóa One-Hot cho Contract.</a:t>
            </a:r>
            <a:endParaRPr lang="en-US" sz="1200" dirty="0"/>
          </a:p>
        </p:txBody>
      </p:sp>
      <p:sp>
        <p:nvSpPr>
          <p:cNvPr id="11" name="Text 7"/>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12"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2 · EDA</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Biểu đồ 4 &amp; 5 — Thời gian sử dụng &amp; Phí hàng tháng</a:t>
            </a:r>
            <a:endParaRPr lang="en-US" sz="3000" dirty="0"/>
          </a:p>
        </p:txBody>
      </p:sp>
      <p:pic>
        <p:nvPicPr>
          <p:cNvPr id="5" name="Image 0" descr="assets/chart_tenure.png">    </p:cNvPr>
          <p:cNvPicPr>
            <a:picLocks noChangeAspect="1"/>
          </p:cNvPicPr>
          <p:nvPr/>
        </p:nvPicPr>
        <p:blipFill>
          <a:blip r:embed="rId1"/>
          <a:stretch>
            <a:fillRect/>
          </a:stretch>
        </p:blipFill>
        <p:spPr>
          <a:xfrm>
            <a:off x="457200" y="1874520"/>
            <a:ext cx="5989320" cy="2971800"/>
          </a:xfrm>
          <a:prstGeom prst="rect">
            <a:avLst/>
          </a:prstGeom>
        </p:spPr>
      </p:pic>
      <p:pic>
        <p:nvPicPr>
          <p:cNvPr id="6" name="Image 1" descr="assets/chart_monthly.png">    </p:cNvPr>
          <p:cNvPicPr>
            <a:picLocks noChangeAspect="1"/>
          </p:cNvPicPr>
          <p:nvPr/>
        </p:nvPicPr>
        <p:blipFill>
          <a:blip r:embed="rId2"/>
          <a:stretch>
            <a:fillRect/>
          </a:stretch>
        </p:blipFill>
        <p:spPr>
          <a:xfrm>
            <a:off x="6629400" y="1874520"/>
            <a:ext cx="5120640" cy="2971800"/>
          </a:xfrm>
          <a:prstGeom prst="rect">
            <a:avLst/>
          </a:prstGeom>
        </p:spPr>
      </p:pic>
      <p:sp>
        <p:nvSpPr>
          <p:cNvPr id="7" name="Shape 3"/>
          <p:cNvSpPr/>
          <p:nvPr/>
        </p:nvSpPr>
        <p:spPr>
          <a:xfrm>
            <a:off x="457200" y="5029200"/>
            <a:ext cx="11274552" cy="1097280"/>
          </a:xfrm>
          <a:prstGeom prst="roundRect">
            <a:avLst>
              <a:gd name="adj" fmla="val 6667"/>
            </a:avLst>
          </a:prstGeom>
          <a:solidFill>
            <a:srgbClr val="F3F7FA"/>
          </a:solidFill>
          <a:ln/>
        </p:spPr>
      </p:sp>
      <p:sp>
        <p:nvSpPr>
          <p:cNvPr id="8" name="Text 4"/>
          <p:cNvSpPr txBox="1"/>
          <p:nvPr/>
        </p:nvSpPr>
        <p:spPr>
          <a:xfrm>
            <a:off x="685800" y="5138928"/>
            <a:ext cx="10789920" cy="914400"/>
          </a:xfrm>
          <a:prstGeom prst="rect">
            <a:avLst/>
          </a:prstGeom>
          <a:noFill/>
          <a:ln/>
        </p:spPr>
        <p:txBody>
          <a:bodyPr wrap="square" lIns="0" tIns="0" rIns="0" bIns="0" rtlCol="0" anchor="t"/>
          <a:lstStyle/>
          <a:p>
            <a:pPr indent="0" marL="0">
              <a:lnSpc>
                <a:spcPct val="120000"/>
              </a:lnSpc>
              <a:buNone/>
            </a:pPr>
            <a:r>
              <a:rPr lang="en-US" sz="1250" b="1" dirty="0">
                <a:solidFill>
                  <a:srgbClr val="0B3D5C"/>
                </a:solidFill>
                <a:latin typeface="Calibri" pitchFamily="34" charset="0"/>
                <a:ea typeface="Calibri" pitchFamily="34" charset="-122"/>
                <a:cs typeface="Calibri" pitchFamily="34" charset="-120"/>
              </a:rPr>
              <a:t>Median Tenure nhóm Churn = 10 tháng, nhóm No Churn = 38 tháng. </a:t>
            </a:r>
            <a:endParaRPr lang="en-US" sz="1250" dirty="0"/>
          </a:p>
          <a:p>
            <a:pPr indent="0" marL="0">
              <a:lnSpc>
                <a:spcPct val="120000"/>
              </a:lnSpc>
              <a:buNone/>
            </a:pPr>
            <a:r>
              <a:rPr lang="en-US" sz="1200" dirty="0">
                <a:solidFill>
                  <a:srgbClr val="1F2937"/>
                </a:solidFill>
                <a:latin typeface="Calibri" pitchFamily="34" charset="0"/>
                <a:ea typeface="Calibri" pitchFamily="34" charset="-122"/>
                <a:cs typeface="Calibri" pitchFamily="34" charset="-120"/>
              </a:rPr>
              <a:t>Khách hàng sử dụng dịch vụ ngắn có tỷ lệ Churn cao hơn → giữ Tenure Months dạng biến số và chuẩn hóa trong pipeline; Monthly Charges cũng có xu hướng biến động theo nhóm Churn.</a:t>
            </a:r>
            <a:endParaRPr lang="en-US" sz="1250" dirty="0"/>
          </a:p>
        </p:txBody>
      </p:sp>
      <p:sp>
        <p:nvSpPr>
          <p:cNvPr id="9" name="Text 5"/>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10" name="Text 6"/>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2 · TIỀN XỬ LÝ</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Quy trình tiền xử lý &amp; chống rò rỉ dữ liệu</a:t>
            </a:r>
            <a:endParaRPr lang="en-US" sz="3000" dirty="0"/>
          </a:p>
        </p:txBody>
      </p:sp>
      <p:sp>
        <p:nvSpPr>
          <p:cNvPr id="5" name="Shape 3"/>
          <p:cNvSpPr/>
          <p:nvPr/>
        </p:nvSpPr>
        <p:spPr>
          <a:xfrm>
            <a:off x="457200" y="1965960"/>
            <a:ext cx="3575304" cy="1920240"/>
          </a:xfrm>
          <a:prstGeom prst="roundRect">
            <a:avLst>
              <a:gd name="adj" fmla="val 4762"/>
            </a:avLst>
          </a:prstGeom>
          <a:solidFill>
            <a:srgbClr val="FFFFFF"/>
          </a:solidFill>
          <a:ln/>
        </p:spPr>
      </p:sp>
      <p:sp>
        <p:nvSpPr>
          <p:cNvPr id="6" name="Shape 4"/>
          <p:cNvSpPr/>
          <p:nvPr/>
        </p:nvSpPr>
        <p:spPr>
          <a:xfrm>
            <a:off x="685800" y="2167128"/>
            <a:ext cx="457200" cy="457200"/>
          </a:xfrm>
          <a:prstGeom prst="ellipse">
            <a:avLst/>
          </a:prstGeom>
          <a:solidFill>
            <a:srgbClr val="1C7293"/>
          </a:solidFill>
          <a:ln/>
        </p:spPr>
      </p:sp>
      <p:sp>
        <p:nvSpPr>
          <p:cNvPr id="7" name="Text 5"/>
          <p:cNvSpPr txBox="1"/>
          <p:nvPr/>
        </p:nvSpPr>
        <p:spPr>
          <a:xfrm>
            <a:off x="685800" y="2167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685800" y="2715768"/>
            <a:ext cx="3118104" cy="45720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Làm sạch &amp; chuyển đổi</a:t>
            </a:r>
            <a:endParaRPr lang="en-US" sz="1300" dirty="0"/>
          </a:p>
        </p:txBody>
      </p:sp>
      <p:sp>
        <p:nvSpPr>
          <p:cNvPr id="9" name="Text 7"/>
          <p:cNvSpPr txBox="1"/>
          <p:nvPr/>
        </p:nvSpPr>
        <p:spPr>
          <a:xfrm>
            <a:off x="685800" y="3136392"/>
            <a:ext cx="3118104" cy="685800"/>
          </a:xfrm>
          <a:prstGeom prst="rect">
            <a:avLst/>
          </a:prstGeom>
          <a:noFill/>
          <a:ln/>
        </p:spPr>
        <p:txBody>
          <a:bodyPr wrap="square" lIns="0" tIns="0" rIns="0" bIns="0" rtlCol="0" anchor="ctr"/>
          <a:lstStyle/>
          <a:p>
            <a:pPr indent="0" marL="0">
              <a:lnSpc>
                <a:spcPct val="115000"/>
              </a:lnSpc>
              <a:buNone/>
            </a:pPr>
            <a:r>
              <a:rPr lang="en-US" sz="1060" dirty="0">
                <a:solidFill>
                  <a:srgbClr val="5B6B78"/>
                </a:solidFill>
                <a:latin typeface="Calibri" pitchFamily="34" charset="0"/>
                <a:ea typeface="Calibri" pitchFamily="34" charset="-122"/>
                <a:cs typeface="Calibri" pitchFamily="34" charset="-120"/>
              </a:rPr>
              <a:t>Chuẩn hóa Monthly/Total Charges sang dạng số, loại bỏ dòng lỗi → còn 7.032 dòng, 20 đặc trưng.</a:t>
            </a:r>
            <a:endParaRPr lang="en-US" sz="1060" dirty="0"/>
          </a:p>
        </p:txBody>
      </p:sp>
      <p:sp>
        <p:nvSpPr>
          <p:cNvPr id="10" name="Shape 8"/>
          <p:cNvSpPr/>
          <p:nvPr/>
        </p:nvSpPr>
        <p:spPr>
          <a:xfrm>
            <a:off x="4306824" y="1965960"/>
            <a:ext cx="3575304" cy="1920240"/>
          </a:xfrm>
          <a:prstGeom prst="roundRect">
            <a:avLst>
              <a:gd name="adj" fmla="val 4762"/>
            </a:avLst>
          </a:prstGeom>
          <a:solidFill>
            <a:srgbClr val="FFFFFF"/>
          </a:solidFill>
          <a:ln/>
        </p:spPr>
      </p:sp>
      <p:sp>
        <p:nvSpPr>
          <p:cNvPr id="11" name="Shape 9"/>
          <p:cNvSpPr/>
          <p:nvPr/>
        </p:nvSpPr>
        <p:spPr>
          <a:xfrm>
            <a:off x="4535424" y="2167128"/>
            <a:ext cx="457200" cy="457200"/>
          </a:xfrm>
          <a:prstGeom prst="ellipse">
            <a:avLst/>
          </a:prstGeom>
          <a:solidFill>
            <a:srgbClr val="1C7293"/>
          </a:solidFill>
          <a:ln/>
        </p:spPr>
      </p:sp>
      <p:sp>
        <p:nvSpPr>
          <p:cNvPr id="12" name="Text 10"/>
          <p:cNvSpPr txBox="1"/>
          <p:nvPr/>
        </p:nvSpPr>
        <p:spPr>
          <a:xfrm>
            <a:off x="4535424" y="2167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4535424" y="2715768"/>
            <a:ext cx="3118104" cy="45720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Xử lý biến mục tiêu</a:t>
            </a:r>
            <a:endParaRPr lang="en-US" sz="1300" dirty="0"/>
          </a:p>
        </p:txBody>
      </p:sp>
      <p:sp>
        <p:nvSpPr>
          <p:cNvPr id="14" name="Text 12"/>
          <p:cNvSpPr txBox="1"/>
          <p:nvPr/>
        </p:nvSpPr>
        <p:spPr>
          <a:xfrm>
            <a:off x="4535424" y="3136392"/>
            <a:ext cx="3118104" cy="685800"/>
          </a:xfrm>
          <a:prstGeom prst="rect">
            <a:avLst/>
          </a:prstGeom>
          <a:noFill/>
          <a:ln/>
        </p:spPr>
        <p:txBody>
          <a:bodyPr wrap="square" lIns="0" tIns="0" rIns="0" bIns="0" rtlCol="0" anchor="ctr"/>
          <a:lstStyle/>
          <a:p>
            <a:pPr indent="0" marL="0">
              <a:lnSpc>
                <a:spcPct val="115000"/>
              </a:lnSpc>
              <a:buNone/>
            </a:pPr>
            <a:r>
              <a:rPr lang="en-US" sz="1060" dirty="0">
                <a:solidFill>
                  <a:srgbClr val="5B6B78"/>
                </a:solidFill>
                <a:latin typeface="Calibri" pitchFamily="34" charset="0"/>
                <a:ea typeface="Calibri" pitchFamily="34" charset="-122"/>
                <a:cs typeface="Calibri" pitchFamily="34" charset="-120"/>
              </a:rPr>
              <a:t>Churn Label ánh xạ nhị phân: No → 0, Yes → 1.</a:t>
            </a:r>
            <a:endParaRPr lang="en-US" sz="1060" dirty="0"/>
          </a:p>
        </p:txBody>
      </p:sp>
      <p:sp>
        <p:nvSpPr>
          <p:cNvPr id="15" name="Shape 13"/>
          <p:cNvSpPr/>
          <p:nvPr/>
        </p:nvSpPr>
        <p:spPr>
          <a:xfrm>
            <a:off x="8156448" y="1965960"/>
            <a:ext cx="3575304" cy="1920240"/>
          </a:xfrm>
          <a:prstGeom prst="roundRect">
            <a:avLst>
              <a:gd name="adj" fmla="val 4762"/>
            </a:avLst>
          </a:prstGeom>
          <a:solidFill>
            <a:srgbClr val="FFFFFF"/>
          </a:solidFill>
          <a:ln/>
        </p:spPr>
      </p:sp>
      <p:sp>
        <p:nvSpPr>
          <p:cNvPr id="16" name="Shape 14"/>
          <p:cNvSpPr/>
          <p:nvPr/>
        </p:nvSpPr>
        <p:spPr>
          <a:xfrm>
            <a:off x="8385048" y="2167128"/>
            <a:ext cx="457200" cy="457200"/>
          </a:xfrm>
          <a:prstGeom prst="ellipse">
            <a:avLst/>
          </a:prstGeom>
          <a:solidFill>
            <a:srgbClr val="1C7293"/>
          </a:solidFill>
          <a:ln/>
        </p:spPr>
      </p:sp>
      <p:sp>
        <p:nvSpPr>
          <p:cNvPr id="17" name="Text 15"/>
          <p:cNvSpPr txBox="1"/>
          <p:nvPr/>
        </p:nvSpPr>
        <p:spPr>
          <a:xfrm>
            <a:off x="8385048" y="2167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8385048" y="2715768"/>
            <a:ext cx="3118104" cy="45720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Phân chia dữ liệu</a:t>
            </a:r>
            <a:endParaRPr lang="en-US" sz="1300" dirty="0"/>
          </a:p>
        </p:txBody>
      </p:sp>
      <p:sp>
        <p:nvSpPr>
          <p:cNvPr id="19" name="Text 17"/>
          <p:cNvSpPr txBox="1"/>
          <p:nvPr/>
        </p:nvSpPr>
        <p:spPr>
          <a:xfrm>
            <a:off x="8385048" y="3136392"/>
            <a:ext cx="3118104" cy="685800"/>
          </a:xfrm>
          <a:prstGeom prst="rect">
            <a:avLst/>
          </a:prstGeom>
          <a:noFill/>
          <a:ln/>
        </p:spPr>
        <p:txBody>
          <a:bodyPr wrap="square" lIns="0" tIns="0" rIns="0" bIns="0" rtlCol="0" anchor="ctr"/>
          <a:lstStyle/>
          <a:p>
            <a:pPr indent="0" marL="0">
              <a:lnSpc>
                <a:spcPct val="115000"/>
              </a:lnSpc>
              <a:buNone/>
            </a:pPr>
            <a:r>
              <a:rPr lang="en-US" sz="1060" dirty="0">
                <a:solidFill>
                  <a:srgbClr val="5B6B78"/>
                </a:solidFill>
                <a:latin typeface="Calibri" pitchFamily="34" charset="0"/>
                <a:ea typeface="Calibri" pitchFamily="34" charset="-122"/>
                <a:cs typeface="Calibri" pitchFamily="34" charset="-120"/>
              </a:rPr>
              <a:t>Stratified split Train 80% / Test 20%, random_state = 42 để tái lập kết quả.</a:t>
            </a:r>
            <a:endParaRPr lang="en-US" sz="1060" dirty="0"/>
          </a:p>
        </p:txBody>
      </p:sp>
      <p:sp>
        <p:nvSpPr>
          <p:cNvPr id="20" name="Shape 18"/>
          <p:cNvSpPr/>
          <p:nvPr/>
        </p:nvSpPr>
        <p:spPr>
          <a:xfrm>
            <a:off x="457200" y="4114800"/>
            <a:ext cx="3575304" cy="1920240"/>
          </a:xfrm>
          <a:prstGeom prst="roundRect">
            <a:avLst>
              <a:gd name="adj" fmla="val 4762"/>
            </a:avLst>
          </a:prstGeom>
          <a:solidFill>
            <a:srgbClr val="FFFFFF"/>
          </a:solidFill>
          <a:ln/>
        </p:spPr>
      </p:sp>
      <p:sp>
        <p:nvSpPr>
          <p:cNvPr id="21" name="Shape 19"/>
          <p:cNvSpPr/>
          <p:nvPr/>
        </p:nvSpPr>
        <p:spPr>
          <a:xfrm>
            <a:off x="685800" y="4315968"/>
            <a:ext cx="457200" cy="457200"/>
          </a:xfrm>
          <a:prstGeom prst="ellipse">
            <a:avLst/>
          </a:prstGeom>
          <a:solidFill>
            <a:srgbClr val="1C7293"/>
          </a:solidFill>
          <a:ln/>
        </p:spPr>
      </p:sp>
      <p:sp>
        <p:nvSpPr>
          <p:cNvPr id="22" name="Text 20"/>
          <p:cNvSpPr txBox="1"/>
          <p:nvPr/>
        </p:nvSpPr>
        <p:spPr>
          <a:xfrm>
            <a:off x="685800" y="4315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685800" y="4864608"/>
            <a:ext cx="3118104" cy="45720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Tiền xử lý biến số</a:t>
            </a:r>
            <a:endParaRPr lang="en-US" sz="1300" dirty="0"/>
          </a:p>
        </p:txBody>
      </p:sp>
      <p:sp>
        <p:nvSpPr>
          <p:cNvPr id="24" name="Text 22"/>
          <p:cNvSpPr txBox="1"/>
          <p:nvPr/>
        </p:nvSpPr>
        <p:spPr>
          <a:xfrm>
            <a:off x="685800" y="5285232"/>
            <a:ext cx="3118104" cy="685800"/>
          </a:xfrm>
          <a:prstGeom prst="rect">
            <a:avLst/>
          </a:prstGeom>
          <a:noFill/>
          <a:ln/>
        </p:spPr>
        <p:txBody>
          <a:bodyPr wrap="square" lIns="0" tIns="0" rIns="0" bIns="0" rtlCol="0" anchor="ctr"/>
          <a:lstStyle/>
          <a:p>
            <a:pPr indent="0" marL="0">
              <a:lnSpc>
                <a:spcPct val="115000"/>
              </a:lnSpc>
              <a:buNone/>
            </a:pPr>
            <a:r>
              <a:rPr lang="en-US" sz="1060" dirty="0">
                <a:solidFill>
                  <a:srgbClr val="5B6B78"/>
                </a:solidFill>
                <a:latin typeface="Calibri" pitchFamily="34" charset="0"/>
                <a:ea typeface="Calibri" pitchFamily="34" charset="-122"/>
                <a:cs typeface="Calibri" pitchFamily="34" charset="-120"/>
              </a:rPr>
              <a:t>Median Imputation cho giá trị thiếu, chuẩn hóa bằng StandardScaler.</a:t>
            </a:r>
            <a:endParaRPr lang="en-US" sz="1060" dirty="0"/>
          </a:p>
        </p:txBody>
      </p:sp>
      <p:sp>
        <p:nvSpPr>
          <p:cNvPr id="25" name="Shape 23"/>
          <p:cNvSpPr/>
          <p:nvPr/>
        </p:nvSpPr>
        <p:spPr>
          <a:xfrm>
            <a:off x="4306824" y="4114800"/>
            <a:ext cx="3575304" cy="1920240"/>
          </a:xfrm>
          <a:prstGeom prst="roundRect">
            <a:avLst>
              <a:gd name="adj" fmla="val 4762"/>
            </a:avLst>
          </a:prstGeom>
          <a:solidFill>
            <a:srgbClr val="FFFFFF"/>
          </a:solidFill>
          <a:ln/>
        </p:spPr>
      </p:sp>
      <p:sp>
        <p:nvSpPr>
          <p:cNvPr id="26" name="Shape 24"/>
          <p:cNvSpPr/>
          <p:nvPr/>
        </p:nvSpPr>
        <p:spPr>
          <a:xfrm>
            <a:off x="4535424" y="4315968"/>
            <a:ext cx="457200" cy="457200"/>
          </a:xfrm>
          <a:prstGeom prst="ellipse">
            <a:avLst/>
          </a:prstGeom>
          <a:solidFill>
            <a:srgbClr val="1C7293"/>
          </a:solidFill>
          <a:ln/>
        </p:spPr>
      </p:sp>
      <p:sp>
        <p:nvSpPr>
          <p:cNvPr id="27" name="Text 25"/>
          <p:cNvSpPr txBox="1"/>
          <p:nvPr/>
        </p:nvSpPr>
        <p:spPr>
          <a:xfrm>
            <a:off x="4535424" y="4315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8" name="Text 26"/>
          <p:cNvSpPr txBox="1"/>
          <p:nvPr/>
        </p:nvSpPr>
        <p:spPr>
          <a:xfrm>
            <a:off x="4535424" y="4864608"/>
            <a:ext cx="3118104" cy="45720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Tiền xử lý biến phân loại</a:t>
            </a:r>
            <a:endParaRPr lang="en-US" sz="1300" dirty="0"/>
          </a:p>
        </p:txBody>
      </p:sp>
      <p:sp>
        <p:nvSpPr>
          <p:cNvPr id="29" name="Text 27"/>
          <p:cNvSpPr txBox="1"/>
          <p:nvPr/>
        </p:nvSpPr>
        <p:spPr>
          <a:xfrm>
            <a:off x="4535424" y="5285232"/>
            <a:ext cx="3118104" cy="685800"/>
          </a:xfrm>
          <a:prstGeom prst="rect">
            <a:avLst/>
          </a:prstGeom>
          <a:noFill/>
          <a:ln/>
        </p:spPr>
        <p:txBody>
          <a:bodyPr wrap="square" lIns="0" tIns="0" rIns="0" bIns="0" rtlCol="0" anchor="ctr"/>
          <a:lstStyle/>
          <a:p>
            <a:pPr indent="0" marL="0">
              <a:lnSpc>
                <a:spcPct val="115000"/>
              </a:lnSpc>
              <a:buNone/>
            </a:pPr>
            <a:r>
              <a:rPr lang="en-US" sz="1060" dirty="0">
                <a:solidFill>
                  <a:srgbClr val="5B6B78"/>
                </a:solidFill>
                <a:latin typeface="Calibri" pitchFamily="34" charset="0"/>
                <a:ea typeface="Calibri" pitchFamily="34" charset="-122"/>
                <a:cs typeface="Calibri" pitchFamily="34" charset="-120"/>
              </a:rPr>
              <a:t>Most-Frequent Imputation, sau đó OneHotEncoder(handle_unknown="ignore").</a:t>
            </a:r>
            <a:endParaRPr lang="en-US" sz="1060" dirty="0"/>
          </a:p>
        </p:txBody>
      </p:sp>
      <p:sp>
        <p:nvSpPr>
          <p:cNvPr id="30" name="Shape 28"/>
          <p:cNvSpPr/>
          <p:nvPr/>
        </p:nvSpPr>
        <p:spPr>
          <a:xfrm>
            <a:off x="8156448" y="4114800"/>
            <a:ext cx="3575304" cy="1920240"/>
          </a:xfrm>
          <a:prstGeom prst="roundRect">
            <a:avLst>
              <a:gd name="adj" fmla="val 4762"/>
            </a:avLst>
          </a:prstGeom>
          <a:solidFill>
            <a:srgbClr val="FFFFFF"/>
          </a:solidFill>
          <a:ln/>
        </p:spPr>
      </p:sp>
      <p:sp>
        <p:nvSpPr>
          <p:cNvPr id="31" name="Shape 29"/>
          <p:cNvSpPr/>
          <p:nvPr/>
        </p:nvSpPr>
        <p:spPr>
          <a:xfrm>
            <a:off x="8385048" y="4315968"/>
            <a:ext cx="457200" cy="457200"/>
          </a:xfrm>
          <a:prstGeom prst="ellipse">
            <a:avLst/>
          </a:prstGeom>
          <a:solidFill>
            <a:srgbClr val="1C7293"/>
          </a:solidFill>
          <a:ln/>
        </p:spPr>
      </p:sp>
      <p:sp>
        <p:nvSpPr>
          <p:cNvPr id="32" name="Text 30"/>
          <p:cNvSpPr txBox="1"/>
          <p:nvPr/>
        </p:nvSpPr>
        <p:spPr>
          <a:xfrm>
            <a:off x="8385048" y="4315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3" name="Text 31"/>
          <p:cNvSpPr txBox="1"/>
          <p:nvPr/>
        </p:nvSpPr>
        <p:spPr>
          <a:xfrm>
            <a:off x="8385048" y="4864608"/>
            <a:ext cx="3118104" cy="457200"/>
          </a:xfrm>
          <a:prstGeom prst="rect">
            <a:avLst/>
          </a:prstGeom>
          <a:noFill/>
          <a:ln/>
        </p:spPr>
        <p:txBody>
          <a:bodyPr wrap="square" lIns="0" tIns="0" rIns="0" bIns="0" rtlCol="0" anchor="ctr"/>
          <a:lstStyle/>
          <a:p>
            <a:pPr indent="0" marL="0">
              <a:buNone/>
            </a:pPr>
            <a:r>
              <a:rPr lang="en-US" sz="1300" b="1" dirty="0">
                <a:solidFill>
                  <a:srgbClr val="0B3D5C"/>
                </a:solidFill>
                <a:latin typeface="Calibri" pitchFamily="34" charset="0"/>
                <a:ea typeface="Calibri" pitchFamily="34" charset="-122"/>
                <a:cs typeface="Calibri" pitchFamily="34" charset="-120"/>
              </a:rPr>
              <a:t>Đóng gói Pipeline</a:t>
            </a:r>
            <a:endParaRPr lang="en-US" sz="1300" dirty="0"/>
          </a:p>
        </p:txBody>
      </p:sp>
      <p:sp>
        <p:nvSpPr>
          <p:cNvPr id="34" name="Text 32"/>
          <p:cNvSpPr txBox="1"/>
          <p:nvPr/>
        </p:nvSpPr>
        <p:spPr>
          <a:xfrm>
            <a:off x="8385048" y="5285232"/>
            <a:ext cx="3118104" cy="685800"/>
          </a:xfrm>
          <a:prstGeom prst="rect">
            <a:avLst/>
          </a:prstGeom>
          <a:noFill/>
          <a:ln/>
        </p:spPr>
        <p:txBody>
          <a:bodyPr wrap="square" lIns="0" tIns="0" rIns="0" bIns="0" rtlCol="0" anchor="ctr"/>
          <a:lstStyle/>
          <a:p>
            <a:pPr indent="0" marL="0">
              <a:lnSpc>
                <a:spcPct val="115000"/>
              </a:lnSpc>
              <a:buNone/>
            </a:pPr>
            <a:r>
              <a:rPr lang="en-US" sz="1060" dirty="0">
                <a:solidFill>
                  <a:srgbClr val="5B6B78"/>
                </a:solidFill>
                <a:latin typeface="Calibri" pitchFamily="34" charset="0"/>
                <a:ea typeface="Calibri" pitchFamily="34" charset="-122"/>
                <a:cs typeface="Calibri" pitchFamily="34" charset="-120"/>
              </a:rPr>
              <a:t>Fit trong sklearn Pipeline trên training folds — ngăn rò rỉ thông tin từ tập kiểm tra.</a:t>
            </a:r>
            <a:endParaRPr lang="en-US" sz="1060" dirty="0"/>
          </a:p>
        </p:txBody>
      </p:sp>
      <p:sp>
        <p:nvSpPr>
          <p:cNvPr id="35" name="Text 33"/>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36" name="Text 34"/>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3 · MÔ HÌNH</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Thiết kế thực nghiệm &amp; so sánh mô hình</a:t>
            </a:r>
            <a:endParaRPr lang="en-US" sz="3000" dirty="0"/>
          </a:p>
        </p:txBody>
      </p:sp>
      <p:sp>
        <p:nvSpPr>
          <p:cNvPr id="5" name="Text 3"/>
          <p:cNvSpPr txBox="1"/>
          <p:nvPr/>
        </p:nvSpPr>
        <p:spPr>
          <a:xfrm>
            <a:off x="457200" y="1920240"/>
            <a:ext cx="11274552" cy="685800"/>
          </a:xfrm>
          <a:prstGeom prst="rect">
            <a:avLst/>
          </a:prstGeom>
          <a:noFill/>
          <a:ln/>
        </p:spPr>
        <p:txBody>
          <a:bodyPr wrap="square" lIns="0" tIns="0" rIns="0" bIns="0" rtlCol="0" anchor="ctr"/>
          <a:lstStyle/>
          <a:p>
            <a:pPr indent="0" marL="0">
              <a:lnSpc>
                <a:spcPct val="120000"/>
              </a:lnSpc>
              <a:buNone/>
            </a:pPr>
            <a:r>
              <a:rPr lang="en-US" sz="1250" dirty="0">
                <a:solidFill>
                  <a:srgbClr val="1F2937"/>
                </a:solidFill>
                <a:latin typeface="Calibri" pitchFamily="34" charset="0"/>
                <a:ea typeface="Calibri" pitchFamily="34" charset="-122"/>
                <a:cs typeface="Calibri" pitchFamily="34" charset="-120"/>
              </a:rPr>
              <a:t>Train/Test 80/20 (stratified split). Baseline: DummyClassifier (most_frequent). Logistic Regression tối ưu tham số C ∈ {0.1, 1.0, 10.0} bằng GridSearchCV, StratifiedKFold 5-fold, tiêu chí F1 (do lớp Churn là thiểu số).</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11274552" cy="2103120"/>
        </p:xfrm>
        <a:graphic>
          <a:graphicData uri="http://schemas.openxmlformats.org/drawingml/2006/table">
            <a:tbl>
              <a:tblPr/>
              <a:tblGrid>
                <a:gridCol w="3685032"/>
                <a:gridCol w="1897380"/>
                <a:gridCol w="1897380"/>
                <a:gridCol w="1897380"/>
                <a:gridCol w="1897380"/>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Mô hình</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0B3D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0B3D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0B3D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0B3D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F1-score</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0B3D5C"/>
                    </a:solidFill>
                  </a:tcPr>
                </a:tc>
              </a:tr>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0,7306</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0,4958</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0,7888</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0,6089</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1C7293"/>
                    </a:solidFill>
                  </a:tcPr>
                </a:tc>
              </a:tr>
              <a:tr h="420624">
                <a:tc>
                  <a:txBody>
                    <a:bodyPr/>
                    <a:lstStyle/>
                    <a:p>
                      <a:pPr algn="l" indent="0" marL="0">
                        <a:buNone/>
                      </a:pPr>
                      <a:r>
                        <a:rPr lang="en-US" sz="1250" b="1" dirty="0">
                          <a:solidFill>
                            <a:srgbClr val="1F2937"/>
                          </a:solidFill>
                          <a:latin typeface="Calibri" pitchFamily="34" charset="0"/>
                          <a:ea typeface="Calibri" pitchFamily="34" charset="-122"/>
                          <a:cs typeface="Calibri" pitchFamily="34" charset="-120"/>
                        </a:rPr>
                        <a:t>KNN (k = 5)</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0,7576</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0,5433</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0,5535</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0,5484*</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r>
              <a:tr h="420624">
                <a:tc>
                  <a:txBody>
                    <a:bodyPr/>
                    <a:lstStyle/>
                    <a:p>
                      <a:pPr algn="l" indent="0" marL="0">
                        <a:buNone/>
                      </a:pPr>
                      <a:r>
                        <a:rPr lang="en-US" sz="1250" b="1" dirty="0">
                          <a:solidFill>
                            <a:srgbClr val="1F2937"/>
                          </a:solidFill>
                          <a:latin typeface="Calibri" pitchFamily="34" charset="0"/>
                          <a:ea typeface="Calibri" pitchFamily="34" charset="-122"/>
                          <a:cs typeface="Calibri" pitchFamily="34" charset="-120"/>
                        </a:rPr>
                        <a:t>Decision Tree (depth 5)</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0,7143</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0,4780</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0,8128</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0,6020</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FFFFF"/>
                    </a:solidFill>
                  </a:tcPr>
                </a:tc>
              </a:tr>
              <a:tr h="420624">
                <a:tc>
                  <a:txBody>
                    <a:bodyPr/>
                    <a:lstStyle/>
                    <a:p>
                      <a:pPr algn="l" indent="0" marL="0">
                        <a:buNone/>
                      </a:pPr>
                      <a:r>
                        <a:rPr lang="en-US" sz="1250" b="1" dirty="0">
                          <a:solidFill>
                            <a:srgbClr val="1F2937"/>
                          </a:solidFill>
                          <a:latin typeface="Calibri" pitchFamily="34" charset="0"/>
                          <a:ea typeface="Calibri" pitchFamily="34" charset="-122"/>
                          <a:cs typeface="Calibri" pitchFamily="34" charset="-120"/>
                        </a:rPr>
                        <a:t>Naive Bayes</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0,7043</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0,4671</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0,7968</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0,5889*</a:t>
                      </a:r>
                      <a:endParaRPr lang="en-US" sz="1250" dirty="0">
                        <a:latin typeface="Calibri" charset="0"/>
                        <a:ea typeface="Calibri" charset="0"/>
                        <a:cs typeface="Calibri" charset="0"/>
                      </a:endParaRPr>
                    </a:p>
                  </a:txBody>
                  <a:tcPr marL="91440" marR="91440" marT="45720" marB="45720" anchor="ctr">
                    <a:lnL w="9525" cap="flat" cmpd="sng" algn="ctr">
                      <a:solidFill>
                        <a:srgbClr val="DCE6EC"/>
                      </a:solidFill>
                      <a:prstDash val="solid"/>
                      <a:round/>
                      <a:headEnd type="none" w="med" len="med"/>
                      <a:tailEnd type="none" w="med" len="med"/>
                    </a:lnL>
                    <a:lnR w="9525" cap="flat" cmpd="sng" algn="ctr">
                      <a:solidFill>
                        <a:srgbClr val="DCE6EC"/>
                      </a:solidFill>
                      <a:prstDash val="solid"/>
                      <a:round/>
                      <a:headEnd type="none" w="med" len="med"/>
                      <a:tailEnd type="none" w="med" len="med"/>
                    </a:lnR>
                    <a:lnT w="9525" cap="flat" cmpd="sng" algn="ctr">
                      <a:solidFill>
                        <a:srgbClr val="DCE6EC"/>
                      </a:solidFill>
                      <a:prstDash val="solid"/>
                      <a:round/>
                      <a:headEnd type="none" w="med" len="med"/>
                      <a:tailEnd type="none" w="med" len="med"/>
                    </a:lnT>
                    <a:lnB w="9525" cap="flat" cmpd="sng" algn="ctr">
                      <a:solidFill>
                        <a:srgbClr val="DCE6EC"/>
                      </a:solidFill>
                      <a:prstDash val="solid"/>
                      <a:round/>
                      <a:headEnd type="none" w="med" len="med"/>
                      <a:tailEnd type="none" w="med" len="med"/>
                    </a:lnB>
                    <a:solidFill>
                      <a:srgbClr val="F3F7FA"/>
                    </a:solidFill>
                  </a:tcPr>
                </a:tc>
              </a:tr>
            </a:tbl>
          </a:graphicData>
        </a:graphic>
      </p:graphicFrame>
      <p:sp>
        <p:nvSpPr>
          <p:cNvPr id="7" name="Text 4"/>
          <p:cNvSpPr txBox="1"/>
          <p:nvPr/>
        </p:nvSpPr>
        <p:spPr>
          <a:xfrm>
            <a:off x="457200" y="4956048"/>
            <a:ext cx="11274552" cy="274320"/>
          </a:xfrm>
          <a:prstGeom prst="rect">
            <a:avLst/>
          </a:prstGeom>
          <a:noFill/>
          <a:ln/>
        </p:spPr>
        <p:txBody>
          <a:bodyPr wrap="square" lIns="0" tIns="0" rIns="0" bIns="0" rtlCol="0" anchor="ctr"/>
          <a:lstStyle/>
          <a:p>
            <a:pPr indent="0" marL="0">
              <a:buNone/>
            </a:pPr>
            <a:r>
              <a:rPr lang="en-US" sz="950" i="1" dirty="0">
                <a:solidFill>
                  <a:srgbClr val="5B6B78"/>
                </a:solidFill>
                <a:latin typeface="Calibri" pitchFamily="34" charset="0"/>
                <a:ea typeface="Calibri" pitchFamily="34" charset="-122"/>
                <a:cs typeface="Calibri" pitchFamily="34" charset="-120"/>
              </a:rPr>
              <a:t>* F1 tính từ Precision &amp; Recall theo trung bình điều hòa (không nêu trực tiếp trong bảng gốc).</a:t>
            </a:r>
            <a:endParaRPr lang="en-US" sz="950" dirty="0"/>
          </a:p>
        </p:txBody>
      </p:sp>
      <p:sp>
        <p:nvSpPr>
          <p:cNvPr id="8" name="Shape 5"/>
          <p:cNvSpPr/>
          <p:nvPr/>
        </p:nvSpPr>
        <p:spPr>
          <a:xfrm>
            <a:off x="457200" y="5349240"/>
            <a:ext cx="11274552" cy="868680"/>
          </a:xfrm>
          <a:prstGeom prst="roundRect">
            <a:avLst>
              <a:gd name="adj" fmla="val 8421"/>
            </a:avLst>
          </a:prstGeom>
          <a:solidFill>
            <a:srgbClr val="F3F7FA"/>
          </a:solidFill>
          <a:ln/>
        </p:spPr>
      </p:sp>
      <p:sp>
        <p:nvSpPr>
          <p:cNvPr id="9" name="Text 6"/>
          <p:cNvSpPr txBox="1"/>
          <p:nvPr/>
        </p:nvSpPr>
        <p:spPr>
          <a:xfrm>
            <a:off x="685800" y="5349240"/>
            <a:ext cx="10835640" cy="868680"/>
          </a:xfrm>
          <a:prstGeom prst="rect">
            <a:avLst/>
          </a:prstGeom>
          <a:noFill/>
          <a:ln/>
        </p:spPr>
        <p:txBody>
          <a:bodyPr wrap="square" lIns="0" tIns="0" rIns="0" bIns="0" rtlCol="0" anchor="ctr"/>
          <a:lstStyle/>
          <a:p>
            <a:pPr indent="0" marL="0">
              <a:lnSpc>
                <a:spcPct val="115000"/>
              </a:lnSpc>
              <a:buNone/>
            </a:pPr>
            <a:r>
              <a:rPr lang="en-US" sz="1200" b="1" dirty="0">
                <a:solidFill>
                  <a:srgbClr val="0B3D5C"/>
                </a:solidFill>
                <a:latin typeface="Calibri" pitchFamily="34" charset="0"/>
                <a:ea typeface="Calibri" pitchFamily="34" charset="-122"/>
                <a:cs typeface="Calibri" pitchFamily="34" charset="-120"/>
              </a:rPr>
              <a:t>Lưu ý: </a:t>
            </a:r>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lớp Churn là thiểu số nên nhóm dùng F1-score làm tiêu chí chính khi Cross-Validation; tập holdout test chỉ dùng để báo cáo kết quả cuối cùng.</a:t>
            </a:r>
            <a:endParaRPr lang="en-US" sz="1200" dirty="0"/>
          </a:p>
        </p:txBody>
      </p:sp>
      <p:sp>
        <p:nvSpPr>
          <p:cNvPr id="10" name="Text 7"/>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11" name="Text 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3 · MÔ HÌNH</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Kết quả &amp; lựa chọn mô hình cuối cùng</a:t>
            </a:r>
            <a:endParaRPr lang="en-US" sz="3000" dirty="0"/>
          </a:p>
        </p:txBody>
      </p:sp>
      <p:sp>
        <p:nvSpPr>
          <p:cNvPr id="5" name="Shape 3"/>
          <p:cNvSpPr/>
          <p:nvPr/>
        </p:nvSpPr>
        <p:spPr>
          <a:xfrm>
            <a:off x="457200" y="1965960"/>
            <a:ext cx="4937760" cy="3931920"/>
          </a:xfrm>
          <a:prstGeom prst="roundRect">
            <a:avLst>
              <a:gd name="adj" fmla="val 2791"/>
            </a:avLst>
          </a:prstGeom>
          <a:solidFill>
            <a:srgbClr val="0B3D5C"/>
          </a:solidFill>
          <a:ln/>
        </p:spPr>
      </p:sp>
      <p:sp>
        <p:nvSpPr>
          <p:cNvPr id="6" name="Shape 4"/>
          <p:cNvSpPr/>
          <p:nvPr/>
        </p:nvSpPr>
        <p:spPr>
          <a:xfrm>
            <a:off x="749808" y="2240280"/>
            <a:ext cx="1920240" cy="365760"/>
          </a:xfrm>
          <a:prstGeom prst="roundRect">
            <a:avLst>
              <a:gd name="adj" fmla="val 20000"/>
            </a:avLst>
          </a:prstGeom>
          <a:solidFill>
            <a:srgbClr val="E4572E"/>
          </a:solidFill>
          <a:ln/>
        </p:spPr>
      </p:sp>
      <p:sp>
        <p:nvSpPr>
          <p:cNvPr id="7" name="Text 5"/>
          <p:cNvSpPr txBox="1"/>
          <p:nvPr/>
        </p:nvSpPr>
        <p:spPr>
          <a:xfrm>
            <a:off x="749808" y="2240280"/>
            <a:ext cx="192024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MÔ HÌNH ĐƯỢC CHỌN</a:t>
            </a:r>
            <a:endParaRPr lang="en-US" sz="1000" dirty="0"/>
          </a:p>
        </p:txBody>
      </p:sp>
      <p:sp>
        <p:nvSpPr>
          <p:cNvPr id="8" name="Text 6"/>
          <p:cNvSpPr txBox="1"/>
          <p:nvPr/>
        </p:nvSpPr>
        <p:spPr>
          <a:xfrm>
            <a:off x="749808" y="2743200"/>
            <a:ext cx="4389120"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Logistic Regression</a:t>
            </a:r>
            <a:endParaRPr lang="en-US" sz="2400" dirty="0"/>
          </a:p>
        </p:txBody>
      </p:sp>
      <p:sp>
        <p:nvSpPr>
          <p:cNvPr id="9" name="Text 7"/>
          <p:cNvSpPr txBox="1"/>
          <p:nvPr/>
        </p:nvSpPr>
        <p:spPr>
          <a:xfrm>
            <a:off x="749808" y="3200400"/>
            <a:ext cx="4389120" cy="32004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(C = 1.0, chọn bằng GridSearchCV)</a:t>
            </a:r>
            <a:endParaRPr lang="en-US" sz="1200" dirty="0"/>
          </a:p>
        </p:txBody>
      </p:sp>
      <p:sp>
        <p:nvSpPr>
          <p:cNvPr id="10" name="Shape 8"/>
          <p:cNvSpPr/>
          <p:nvPr/>
        </p:nvSpPr>
        <p:spPr>
          <a:xfrm>
            <a:off x="749808" y="3703320"/>
            <a:ext cx="1965960" cy="868680"/>
          </a:xfrm>
          <a:prstGeom prst="roundRect">
            <a:avLst>
              <a:gd name="adj" fmla="val 8421"/>
            </a:avLst>
          </a:prstGeom>
          <a:solidFill>
            <a:srgbClr val="0F4C70"/>
          </a:solidFill>
          <a:ln/>
        </p:spPr>
      </p:sp>
      <p:sp>
        <p:nvSpPr>
          <p:cNvPr id="11" name="Text 9"/>
          <p:cNvSpPr txBox="1"/>
          <p:nvPr/>
        </p:nvSpPr>
        <p:spPr>
          <a:xfrm>
            <a:off x="749808" y="3794760"/>
            <a:ext cx="196596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0,6089</a:t>
            </a:r>
            <a:endParaRPr lang="en-US" sz="1900" dirty="0"/>
          </a:p>
        </p:txBody>
      </p:sp>
      <p:sp>
        <p:nvSpPr>
          <p:cNvPr id="12" name="Text 10"/>
          <p:cNvSpPr txBox="1"/>
          <p:nvPr/>
        </p:nvSpPr>
        <p:spPr>
          <a:xfrm>
            <a:off x="749808" y="4233672"/>
            <a:ext cx="1965960" cy="274320"/>
          </a:xfrm>
          <a:prstGeom prst="rect">
            <a:avLst/>
          </a:prstGeom>
          <a:noFill/>
          <a:ln/>
        </p:spPr>
        <p:txBody>
          <a:bodyPr wrap="square" lIns="0" tIns="0" rIns="0" bIns="0" rtlCol="0" anchor="ctr"/>
          <a:lstStyle/>
          <a:p>
            <a:pPr algn="ctr" indent="0" marL="0">
              <a:buNone/>
            </a:pPr>
            <a:r>
              <a:rPr lang="en-US" sz="1050" dirty="0">
                <a:solidFill>
                  <a:srgbClr val="9FD7E8"/>
                </a:solidFill>
                <a:latin typeface="Calibri" pitchFamily="34" charset="0"/>
                <a:ea typeface="Calibri" pitchFamily="34" charset="-122"/>
                <a:cs typeface="Calibri" pitchFamily="34" charset="-120"/>
              </a:rPr>
              <a:t>F1</a:t>
            </a:r>
            <a:endParaRPr lang="en-US" sz="1050" dirty="0"/>
          </a:p>
        </p:txBody>
      </p:sp>
      <p:sp>
        <p:nvSpPr>
          <p:cNvPr id="13" name="Shape 11"/>
          <p:cNvSpPr/>
          <p:nvPr/>
        </p:nvSpPr>
        <p:spPr>
          <a:xfrm>
            <a:off x="2944368" y="3703320"/>
            <a:ext cx="1965960" cy="868680"/>
          </a:xfrm>
          <a:prstGeom prst="roundRect">
            <a:avLst>
              <a:gd name="adj" fmla="val 8421"/>
            </a:avLst>
          </a:prstGeom>
          <a:solidFill>
            <a:srgbClr val="0F4C70"/>
          </a:solidFill>
          <a:ln/>
        </p:spPr>
      </p:sp>
      <p:sp>
        <p:nvSpPr>
          <p:cNvPr id="14" name="Text 12"/>
          <p:cNvSpPr txBox="1"/>
          <p:nvPr/>
        </p:nvSpPr>
        <p:spPr>
          <a:xfrm>
            <a:off x="2944368" y="3794760"/>
            <a:ext cx="196596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0,6452</a:t>
            </a:r>
            <a:endParaRPr lang="en-US" sz="1900" dirty="0"/>
          </a:p>
        </p:txBody>
      </p:sp>
      <p:sp>
        <p:nvSpPr>
          <p:cNvPr id="15" name="Text 13"/>
          <p:cNvSpPr txBox="1"/>
          <p:nvPr/>
        </p:nvSpPr>
        <p:spPr>
          <a:xfrm>
            <a:off x="2944368" y="4233672"/>
            <a:ext cx="1965960" cy="274320"/>
          </a:xfrm>
          <a:prstGeom prst="rect">
            <a:avLst/>
          </a:prstGeom>
          <a:noFill/>
          <a:ln/>
        </p:spPr>
        <p:txBody>
          <a:bodyPr wrap="square" lIns="0" tIns="0" rIns="0" bIns="0" rtlCol="0" anchor="ctr"/>
          <a:lstStyle/>
          <a:p>
            <a:pPr algn="ctr" indent="0" marL="0">
              <a:buNone/>
            </a:pPr>
            <a:r>
              <a:rPr lang="en-US" sz="1050" dirty="0">
                <a:solidFill>
                  <a:srgbClr val="9FD7E8"/>
                </a:solidFill>
                <a:latin typeface="Calibri" pitchFamily="34" charset="0"/>
                <a:ea typeface="Calibri" pitchFamily="34" charset="-122"/>
                <a:cs typeface="Calibri" pitchFamily="34" charset="-120"/>
              </a:rPr>
              <a:t>CV F1</a:t>
            </a:r>
            <a:endParaRPr lang="en-US" sz="1050" dirty="0"/>
          </a:p>
        </p:txBody>
      </p:sp>
      <p:sp>
        <p:nvSpPr>
          <p:cNvPr id="16" name="Shape 14"/>
          <p:cNvSpPr/>
          <p:nvPr/>
        </p:nvSpPr>
        <p:spPr>
          <a:xfrm>
            <a:off x="749808" y="4754880"/>
            <a:ext cx="1965960" cy="868680"/>
          </a:xfrm>
          <a:prstGeom prst="roundRect">
            <a:avLst>
              <a:gd name="adj" fmla="val 8421"/>
            </a:avLst>
          </a:prstGeom>
          <a:solidFill>
            <a:srgbClr val="0F4C70"/>
          </a:solidFill>
          <a:ln/>
        </p:spPr>
      </p:sp>
      <p:sp>
        <p:nvSpPr>
          <p:cNvPr id="17" name="Text 15"/>
          <p:cNvSpPr txBox="1"/>
          <p:nvPr/>
        </p:nvSpPr>
        <p:spPr>
          <a:xfrm>
            <a:off x="749808" y="4846320"/>
            <a:ext cx="196596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0,7888</a:t>
            </a:r>
            <a:endParaRPr lang="en-US" sz="1900" dirty="0"/>
          </a:p>
        </p:txBody>
      </p:sp>
      <p:sp>
        <p:nvSpPr>
          <p:cNvPr id="18" name="Text 16"/>
          <p:cNvSpPr txBox="1"/>
          <p:nvPr/>
        </p:nvSpPr>
        <p:spPr>
          <a:xfrm>
            <a:off x="749808" y="5285232"/>
            <a:ext cx="1965960" cy="274320"/>
          </a:xfrm>
          <a:prstGeom prst="rect">
            <a:avLst/>
          </a:prstGeom>
          <a:noFill/>
          <a:ln/>
        </p:spPr>
        <p:txBody>
          <a:bodyPr wrap="square" lIns="0" tIns="0" rIns="0" bIns="0" rtlCol="0" anchor="ctr"/>
          <a:lstStyle/>
          <a:p>
            <a:pPr algn="ctr" indent="0" marL="0">
              <a:buNone/>
            </a:pPr>
            <a:r>
              <a:rPr lang="en-US" sz="1050" dirty="0">
                <a:solidFill>
                  <a:srgbClr val="9FD7E8"/>
                </a:solidFill>
                <a:latin typeface="Calibri" pitchFamily="34" charset="0"/>
                <a:ea typeface="Calibri" pitchFamily="34" charset="-122"/>
                <a:cs typeface="Calibri" pitchFamily="34" charset="-120"/>
              </a:rPr>
              <a:t>Recall</a:t>
            </a:r>
            <a:endParaRPr lang="en-US" sz="1050" dirty="0"/>
          </a:p>
        </p:txBody>
      </p:sp>
      <p:sp>
        <p:nvSpPr>
          <p:cNvPr id="19" name="Shape 17"/>
          <p:cNvSpPr/>
          <p:nvPr/>
        </p:nvSpPr>
        <p:spPr>
          <a:xfrm>
            <a:off x="2944368" y="4754880"/>
            <a:ext cx="1965960" cy="868680"/>
          </a:xfrm>
          <a:prstGeom prst="roundRect">
            <a:avLst>
              <a:gd name="adj" fmla="val 8421"/>
            </a:avLst>
          </a:prstGeom>
          <a:solidFill>
            <a:srgbClr val="0F4C70"/>
          </a:solidFill>
          <a:ln/>
        </p:spPr>
      </p:sp>
      <p:sp>
        <p:nvSpPr>
          <p:cNvPr id="20" name="Text 18"/>
          <p:cNvSpPr txBox="1"/>
          <p:nvPr/>
        </p:nvSpPr>
        <p:spPr>
          <a:xfrm>
            <a:off x="2944368" y="4846320"/>
            <a:ext cx="196596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0,8428</a:t>
            </a:r>
            <a:endParaRPr lang="en-US" sz="1900" dirty="0"/>
          </a:p>
        </p:txBody>
      </p:sp>
      <p:sp>
        <p:nvSpPr>
          <p:cNvPr id="21" name="Text 19"/>
          <p:cNvSpPr txBox="1"/>
          <p:nvPr/>
        </p:nvSpPr>
        <p:spPr>
          <a:xfrm>
            <a:off x="2944368" y="5285232"/>
            <a:ext cx="1965960" cy="274320"/>
          </a:xfrm>
          <a:prstGeom prst="rect">
            <a:avLst/>
          </a:prstGeom>
          <a:noFill/>
          <a:ln/>
        </p:spPr>
        <p:txBody>
          <a:bodyPr wrap="square" lIns="0" tIns="0" rIns="0" bIns="0" rtlCol="0" anchor="ctr"/>
          <a:lstStyle/>
          <a:p>
            <a:pPr algn="ctr" indent="0" marL="0">
              <a:buNone/>
            </a:pPr>
            <a:r>
              <a:rPr lang="en-US" sz="1050" dirty="0">
                <a:solidFill>
                  <a:srgbClr val="9FD7E8"/>
                </a:solidFill>
                <a:latin typeface="Calibri" pitchFamily="34" charset="0"/>
                <a:ea typeface="Calibri" pitchFamily="34" charset="-122"/>
                <a:cs typeface="Calibri" pitchFamily="34" charset="-120"/>
              </a:rPr>
              <a:t>ROC-AUC</a:t>
            </a:r>
            <a:endParaRPr lang="en-US" sz="1050" dirty="0"/>
          </a:p>
        </p:txBody>
      </p:sp>
      <p:sp>
        <p:nvSpPr>
          <p:cNvPr id="22" name="Shape 20"/>
          <p:cNvSpPr/>
          <p:nvPr/>
        </p:nvSpPr>
        <p:spPr>
          <a:xfrm>
            <a:off x="5715000" y="1965960"/>
            <a:ext cx="6016752" cy="841248"/>
          </a:xfrm>
          <a:prstGeom prst="roundRect">
            <a:avLst>
              <a:gd name="adj" fmla="val 8696"/>
            </a:avLst>
          </a:prstGeom>
          <a:solidFill>
            <a:srgbClr val="FFFFFF"/>
          </a:solidFill>
          <a:ln w="12700">
            <a:solidFill>
              <a:srgbClr val="DCE6EC"/>
            </a:solidFill>
            <a:prstDash val="solid"/>
          </a:ln>
        </p:spPr>
      </p:sp>
      <p:sp>
        <p:nvSpPr>
          <p:cNvPr id="23" name="Text 21"/>
          <p:cNvSpPr txBox="1"/>
          <p:nvPr/>
        </p:nvSpPr>
        <p:spPr>
          <a:xfrm>
            <a:off x="5943600" y="2039112"/>
            <a:ext cx="5559552" cy="292608"/>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KNN</a:t>
            </a:r>
            <a:endParaRPr lang="en-US" sz="1250" dirty="0"/>
          </a:p>
        </p:txBody>
      </p:sp>
      <p:sp>
        <p:nvSpPr>
          <p:cNvPr id="24" name="Text 22"/>
          <p:cNvSpPr txBox="1"/>
          <p:nvPr/>
        </p:nvSpPr>
        <p:spPr>
          <a:xfrm>
            <a:off x="5943600" y="2331720"/>
            <a:ext cx="5559552" cy="438912"/>
          </a:xfrm>
          <a:prstGeom prst="rect">
            <a:avLst/>
          </a:prstGeom>
          <a:noFill/>
          <a:ln/>
        </p:spPr>
        <p:txBody>
          <a:bodyPr wrap="square" lIns="0" tIns="0" rIns="0" bIns="0" rtlCol="0" anchor="ctr"/>
          <a:lstStyle/>
          <a:p>
            <a:pPr indent="0" marL="0">
              <a:lnSpc>
                <a:spcPct val="110000"/>
              </a:lnSpc>
              <a:buNone/>
            </a:pPr>
            <a:r>
              <a:rPr lang="en-US" sz="1100" dirty="0">
                <a:solidFill>
                  <a:srgbClr val="5B6B78"/>
                </a:solidFill>
                <a:latin typeface="Calibri" pitchFamily="34" charset="0"/>
                <a:ea typeface="Calibri" pitchFamily="34" charset="-122"/>
                <a:cs typeface="Calibri" pitchFamily="34" charset="-120"/>
              </a:rPr>
              <a:t>Accuracy cao nhất (0,7576) trong bảng test, nhưng F1 thấp hơn Logistic Regression.</a:t>
            </a:r>
            <a:endParaRPr lang="en-US" sz="1100" dirty="0"/>
          </a:p>
        </p:txBody>
      </p:sp>
      <p:sp>
        <p:nvSpPr>
          <p:cNvPr id="25" name="Shape 23"/>
          <p:cNvSpPr/>
          <p:nvPr/>
        </p:nvSpPr>
        <p:spPr>
          <a:xfrm>
            <a:off x="5715000" y="2953512"/>
            <a:ext cx="6016752" cy="841248"/>
          </a:xfrm>
          <a:prstGeom prst="roundRect">
            <a:avLst>
              <a:gd name="adj" fmla="val 8696"/>
            </a:avLst>
          </a:prstGeom>
          <a:solidFill>
            <a:srgbClr val="FFFFFF"/>
          </a:solidFill>
          <a:ln w="12700">
            <a:solidFill>
              <a:srgbClr val="DCE6EC"/>
            </a:solidFill>
            <a:prstDash val="solid"/>
          </a:ln>
        </p:spPr>
      </p:sp>
      <p:sp>
        <p:nvSpPr>
          <p:cNvPr id="26" name="Text 24"/>
          <p:cNvSpPr txBox="1"/>
          <p:nvPr/>
        </p:nvSpPr>
        <p:spPr>
          <a:xfrm>
            <a:off x="5943600" y="3026664"/>
            <a:ext cx="5559552" cy="292608"/>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Decision Tree</a:t>
            </a:r>
            <a:endParaRPr lang="en-US" sz="1250" dirty="0"/>
          </a:p>
        </p:txBody>
      </p:sp>
      <p:sp>
        <p:nvSpPr>
          <p:cNvPr id="27" name="Text 25"/>
          <p:cNvSpPr txBox="1"/>
          <p:nvPr/>
        </p:nvSpPr>
        <p:spPr>
          <a:xfrm>
            <a:off x="5943600" y="3319272"/>
            <a:ext cx="5559552" cy="438912"/>
          </a:xfrm>
          <a:prstGeom prst="rect">
            <a:avLst/>
          </a:prstGeom>
          <a:noFill/>
          <a:ln/>
        </p:spPr>
        <p:txBody>
          <a:bodyPr wrap="square" lIns="0" tIns="0" rIns="0" bIns="0" rtlCol="0" anchor="ctr"/>
          <a:lstStyle/>
          <a:p>
            <a:pPr indent="0" marL="0">
              <a:lnSpc>
                <a:spcPct val="110000"/>
              </a:lnSpc>
              <a:buNone/>
            </a:pPr>
            <a:r>
              <a:rPr lang="en-US" sz="1100" dirty="0">
                <a:solidFill>
                  <a:srgbClr val="5B6B78"/>
                </a:solidFill>
                <a:latin typeface="Calibri" pitchFamily="34" charset="0"/>
                <a:ea typeface="Calibri" pitchFamily="34" charset="-122"/>
                <a:cs typeface="Calibri" pitchFamily="34" charset="-120"/>
              </a:rPr>
              <a:t>Recall cao nhất (0,8128), song Precision thấp hơn — dễ dự đoán nhầm khách ở lại.</a:t>
            </a:r>
            <a:endParaRPr lang="en-US" sz="1100" dirty="0"/>
          </a:p>
        </p:txBody>
      </p:sp>
      <p:sp>
        <p:nvSpPr>
          <p:cNvPr id="28" name="Shape 26"/>
          <p:cNvSpPr/>
          <p:nvPr/>
        </p:nvSpPr>
        <p:spPr>
          <a:xfrm>
            <a:off x="5715000" y="3941064"/>
            <a:ext cx="6016752" cy="841248"/>
          </a:xfrm>
          <a:prstGeom prst="roundRect">
            <a:avLst>
              <a:gd name="adj" fmla="val 8696"/>
            </a:avLst>
          </a:prstGeom>
          <a:solidFill>
            <a:srgbClr val="FFFFFF"/>
          </a:solidFill>
          <a:ln w="12700">
            <a:solidFill>
              <a:srgbClr val="DCE6EC"/>
            </a:solidFill>
            <a:prstDash val="solid"/>
          </a:ln>
        </p:spPr>
      </p:sp>
      <p:sp>
        <p:nvSpPr>
          <p:cNvPr id="29" name="Text 27"/>
          <p:cNvSpPr txBox="1"/>
          <p:nvPr/>
        </p:nvSpPr>
        <p:spPr>
          <a:xfrm>
            <a:off x="5943600" y="4014216"/>
            <a:ext cx="5559552" cy="292608"/>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Naive Bayes</a:t>
            </a:r>
            <a:endParaRPr lang="en-US" sz="1250" dirty="0"/>
          </a:p>
        </p:txBody>
      </p:sp>
      <p:sp>
        <p:nvSpPr>
          <p:cNvPr id="30" name="Text 28"/>
          <p:cNvSpPr txBox="1"/>
          <p:nvPr/>
        </p:nvSpPr>
        <p:spPr>
          <a:xfrm>
            <a:off x="5943600" y="4306824"/>
            <a:ext cx="5559552" cy="438912"/>
          </a:xfrm>
          <a:prstGeom prst="rect">
            <a:avLst/>
          </a:prstGeom>
          <a:noFill/>
          <a:ln/>
        </p:spPr>
        <p:txBody>
          <a:bodyPr wrap="square" lIns="0" tIns="0" rIns="0" bIns="0" rtlCol="0" anchor="ctr"/>
          <a:lstStyle/>
          <a:p>
            <a:pPr indent="0" marL="0">
              <a:lnSpc>
                <a:spcPct val="110000"/>
              </a:lnSpc>
              <a:buNone/>
            </a:pPr>
            <a:r>
              <a:rPr lang="en-US" sz="1100" dirty="0">
                <a:solidFill>
                  <a:srgbClr val="5B6B78"/>
                </a:solidFill>
                <a:latin typeface="Calibri" pitchFamily="34" charset="0"/>
                <a:ea typeface="Calibri" pitchFamily="34" charset="-122"/>
                <a:cs typeface="Calibri" pitchFamily="34" charset="-120"/>
              </a:rPr>
              <a:t>Recall khá cao nhưng Precision thấp hơn Logistic Regression.</a:t>
            </a:r>
            <a:endParaRPr lang="en-US" sz="1100" dirty="0"/>
          </a:p>
        </p:txBody>
      </p:sp>
      <p:sp>
        <p:nvSpPr>
          <p:cNvPr id="31" name="Shape 29"/>
          <p:cNvSpPr/>
          <p:nvPr/>
        </p:nvSpPr>
        <p:spPr>
          <a:xfrm>
            <a:off x="5715000" y="4928616"/>
            <a:ext cx="6016752" cy="841248"/>
          </a:xfrm>
          <a:prstGeom prst="roundRect">
            <a:avLst>
              <a:gd name="adj" fmla="val 8696"/>
            </a:avLst>
          </a:prstGeom>
          <a:solidFill>
            <a:srgbClr val="F3F7FA"/>
          </a:solidFill>
          <a:ln w="15875">
            <a:solidFill>
              <a:srgbClr val="1C7293"/>
            </a:solidFill>
            <a:prstDash val="solid"/>
          </a:ln>
        </p:spPr>
      </p:sp>
      <p:sp>
        <p:nvSpPr>
          <p:cNvPr id="32" name="Text 30"/>
          <p:cNvSpPr txBox="1"/>
          <p:nvPr/>
        </p:nvSpPr>
        <p:spPr>
          <a:xfrm>
            <a:off x="5943600" y="5001768"/>
            <a:ext cx="5559552" cy="292608"/>
          </a:xfrm>
          <a:prstGeom prst="rect">
            <a:avLst/>
          </a:prstGeom>
          <a:noFill/>
          <a:ln/>
        </p:spPr>
        <p:txBody>
          <a:bodyPr wrap="square" lIns="0" tIns="0" rIns="0" bIns="0" rtlCol="0" anchor="ctr"/>
          <a:lstStyle/>
          <a:p>
            <a:pPr indent="0" marL="0">
              <a:buNone/>
            </a:pPr>
            <a:r>
              <a:rPr lang="en-US" sz="1250" b="1" dirty="0">
                <a:solidFill>
                  <a:srgbClr val="0B3D5C"/>
                </a:solidFill>
                <a:latin typeface="Calibri" pitchFamily="34" charset="0"/>
                <a:ea typeface="Calibri" pitchFamily="34" charset="-122"/>
                <a:cs typeface="Calibri" pitchFamily="34" charset="-120"/>
              </a:rPr>
              <a:t>Logistic Regression</a:t>
            </a:r>
            <a:endParaRPr lang="en-US" sz="1250" dirty="0"/>
          </a:p>
        </p:txBody>
      </p:sp>
      <p:sp>
        <p:nvSpPr>
          <p:cNvPr id="33" name="Text 31"/>
          <p:cNvSpPr txBox="1"/>
          <p:nvPr/>
        </p:nvSpPr>
        <p:spPr>
          <a:xfrm>
            <a:off x="5943600" y="5294376"/>
            <a:ext cx="5559552" cy="438912"/>
          </a:xfrm>
          <a:prstGeom prst="rect">
            <a:avLst/>
          </a:prstGeom>
          <a:noFill/>
          <a:ln/>
        </p:spPr>
        <p:txBody>
          <a:bodyPr wrap="square" lIns="0" tIns="0" rIns="0" bIns="0" rtlCol="0" anchor="ctr"/>
          <a:lstStyle/>
          <a:p>
            <a:pPr indent="0" marL="0">
              <a:lnSpc>
                <a:spcPct val="110000"/>
              </a:lnSpc>
              <a:buNone/>
            </a:pPr>
            <a:r>
              <a:rPr lang="en-US" sz="1100" dirty="0">
                <a:solidFill>
                  <a:srgbClr val="5B6B78"/>
                </a:solidFill>
                <a:latin typeface="Calibri" pitchFamily="34" charset="0"/>
                <a:ea typeface="Calibri" pitchFamily="34" charset="-122"/>
                <a:cs typeface="Calibri" pitchFamily="34" charset="-120"/>
              </a:rPr>
              <a:t>CV F1 cao nhất (0,6452) và ROC-AUC cao nhất (0,8428) — cân bằng tốt nhất giữa các chỉ số.</a:t>
            </a:r>
            <a:endParaRPr lang="en-US" sz="1100" dirty="0"/>
          </a:p>
        </p:txBody>
      </p:sp>
      <p:sp>
        <p:nvSpPr>
          <p:cNvPr id="34" name="Text 32"/>
          <p:cNvSpPr txBox="1"/>
          <p:nvPr/>
        </p:nvSpPr>
        <p:spPr>
          <a:xfrm>
            <a:off x="5715000" y="5961888"/>
            <a:ext cx="6016752" cy="411480"/>
          </a:xfrm>
          <a:prstGeom prst="rect">
            <a:avLst/>
          </a:prstGeom>
          <a:noFill/>
          <a:ln/>
        </p:spPr>
        <p:txBody>
          <a:bodyPr wrap="square" lIns="0" tIns="0" rIns="0" bIns="0" rtlCol="0" anchor="ctr"/>
          <a:lstStyle/>
          <a:p>
            <a:pPr indent="0" marL="0">
              <a:buNone/>
            </a:pPr>
            <a:r>
              <a:rPr lang="en-US" sz="1100" i="1" dirty="0">
                <a:solidFill>
                  <a:srgbClr val="5B6B78"/>
                </a:solidFill>
                <a:latin typeface="Calibri" pitchFamily="34" charset="0"/>
                <a:ea typeface="Calibri" pitchFamily="34" charset="-122"/>
                <a:cs typeface="Calibri" pitchFamily="34" charset="-120"/>
              </a:rPr>
              <a:t>Pipeline của mô hình được lưu tại ai-models/models/model.joblib để phục vụ triển khai hệ thống.</a:t>
            </a:r>
            <a:endParaRPr lang="en-US" sz="1100" dirty="0"/>
          </a:p>
        </p:txBody>
      </p:sp>
      <p:sp>
        <p:nvSpPr>
          <p:cNvPr id="35" name="Text 33"/>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36" name="Text 34"/>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3 · MLOPS</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Đóng gói mô hình &amp; cấu trúc Artifacts</a:t>
            </a:r>
            <a:endParaRPr lang="en-US" sz="3000" dirty="0"/>
          </a:p>
        </p:txBody>
      </p:sp>
      <p:sp>
        <p:nvSpPr>
          <p:cNvPr id="5" name="Text 3"/>
          <p:cNvSpPr txBox="1"/>
          <p:nvPr/>
        </p:nvSpPr>
        <p:spPr>
          <a:xfrm>
            <a:off x="457200" y="1371600"/>
            <a:ext cx="11247120" cy="365760"/>
          </a:xfrm>
          <a:prstGeom prst="rect">
            <a:avLst/>
          </a:prstGeom>
          <a:noFill/>
          <a:ln/>
        </p:spPr>
        <p:txBody>
          <a:bodyPr wrap="square" lIns="0" tIns="0" rIns="0" bIns="0" rtlCol="0" anchor="ctr"/>
          <a:lstStyle/>
          <a:p>
            <a:pPr algn="l" indent="0" marL="0">
              <a:buNone/>
            </a:pPr>
            <a:r>
              <a:rPr lang="en-US" sz="1300" i="1" dirty="0">
                <a:solidFill>
                  <a:srgbClr val="5B6B78"/>
                </a:solidFill>
                <a:latin typeface="Calibri" pitchFamily="34" charset="0"/>
                <a:ea typeface="Calibri" pitchFamily="34" charset="-122"/>
                <a:cs typeface="Calibri" pitchFamily="34" charset="-120"/>
              </a:rPr>
              <a:t>Sau huấn luyện, các tài nguyên được đóng gói để phục vụ triển khai và tái lập mô hình</a:t>
            </a:r>
            <a:endParaRPr lang="en-US" sz="1300" dirty="0"/>
          </a:p>
        </p:txBody>
      </p:sp>
      <p:sp>
        <p:nvSpPr>
          <p:cNvPr id="6" name="Shape 4"/>
          <p:cNvSpPr/>
          <p:nvPr/>
        </p:nvSpPr>
        <p:spPr>
          <a:xfrm>
            <a:off x="457200" y="2148840"/>
            <a:ext cx="5477256" cy="1783080"/>
          </a:xfrm>
          <a:prstGeom prst="roundRect">
            <a:avLst>
              <a:gd name="adj" fmla="val 5128"/>
            </a:avLst>
          </a:prstGeom>
          <a:solidFill>
            <a:srgbClr val="FFFFFF"/>
          </a:solidFill>
          <a:ln/>
        </p:spPr>
      </p:sp>
      <p:sp>
        <p:nvSpPr>
          <p:cNvPr id="7" name="Shape 5"/>
          <p:cNvSpPr/>
          <p:nvPr/>
        </p:nvSpPr>
        <p:spPr>
          <a:xfrm>
            <a:off x="713232" y="2404872"/>
            <a:ext cx="685800" cy="685800"/>
          </a:xfrm>
          <a:prstGeom prst="roundRect">
            <a:avLst>
              <a:gd name="adj" fmla="val 16000"/>
            </a:avLst>
          </a:prstGeom>
          <a:solidFill>
            <a:srgbClr val="1C7293"/>
          </a:solidFill>
          <a:ln/>
        </p:spPr>
      </p:sp>
      <p:sp>
        <p:nvSpPr>
          <p:cNvPr id="8" name="Text 6"/>
          <p:cNvSpPr txBox="1"/>
          <p:nvPr/>
        </p:nvSpPr>
        <p:spPr>
          <a:xfrm>
            <a:off x="713232" y="2404872"/>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 }</a:t>
            </a:r>
            <a:endParaRPr lang="en-US" sz="1800" dirty="0"/>
          </a:p>
        </p:txBody>
      </p:sp>
      <p:sp>
        <p:nvSpPr>
          <p:cNvPr id="9" name="Text 7"/>
          <p:cNvSpPr txBox="1"/>
          <p:nvPr/>
        </p:nvSpPr>
        <p:spPr>
          <a:xfrm>
            <a:off x="1554480" y="2386584"/>
            <a:ext cx="4151376" cy="365760"/>
          </a:xfrm>
          <a:prstGeom prst="rect">
            <a:avLst/>
          </a:prstGeom>
          <a:noFill/>
          <a:ln/>
        </p:spPr>
        <p:txBody>
          <a:bodyPr wrap="square" lIns="0" tIns="0" rIns="0" bIns="0" rtlCol="0" anchor="ctr"/>
          <a:lstStyle/>
          <a:p>
            <a:pPr indent="0" marL="0">
              <a:buNone/>
            </a:pPr>
            <a:r>
              <a:rPr lang="en-US" sz="1400" b="1" dirty="0">
                <a:solidFill>
                  <a:srgbClr val="0B3D5C"/>
                </a:solidFill>
                <a:latin typeface="Courier New" pitchFamily="34" charset="0"/>
                <a:ea typeface="Courier New" pitchFamily="34" charset="-122"/>
                <a:cs typeface="Courier New" pitchFamily="34" charset="-120"/>
              </a:rPr>
              <a:t>model.joblib</a:t>
            </a:r>
            <a:endParaRPr lang="en-US" sz="1400" dirty="0"/>
          </a:p>
        </p:txBody>
      </p:sp>
      <p:sp>
        <p:nvSpPr>
          <p:cNvPr id="10" name="Text 8"/>
          <p:cNvSpPr txBox="1"/>
          <p:nvPr/>
        </p:nvSpPr>
        <p:spPr>
          <a:xfrm>
            <a:off x="1554480" y="2770632"/>
            <a:ext cx="4151376" cy="1005840"/>
          </a:xfrm>
          <a:prstGeom prst="rect">
            <a:avLst/>
          </a:prstGeom>
          <a:noFill/>
          <a:ln/>
        </p:spPr>
        <p:txBody>
          <a:bodyPr wrap="square" lIns="0" tIns="0" rIns="0" bIns="0" rtlCol="0" anchor="ctr"/>
          <a:lstStyle/>
          <a:p>
            <a:pPr indent="0" marL="0">
              <a:lnSpc>
                <a:spcPct val="120000"/>
              </a:lnSpc>
              <a:buNone/>
            </a:pPr>
            <a:r>
              <a:rPr lang="en-US" sz="1130" dirty="0">
                <a:solidFill>
                  <a:srgbClr val="5B6B78"/>
                </a:solidFill>
                <a:latin typeface="Calibri" pitchFamily="34" charset="0"/>
                <a:ea typeface="Calibri" pitchFamily="34" charset="-122"/>
                <a:cs typeface="Calibri" pitchFamily="34" charset="-120"/>
              </a:rPr>
              <a:t>Lưu pipeline đã fit — gồm bước tiền xử lý và mô hình Logistic Regression được lựa chọn.</a:t>
            </a:r>
            <a:endParaRPr lang="en-US" sz="1130" dirty="0"/>
          </a:p>
        </p:txBody>
      </p:sp>
      <p:sp>
        <p:nvSpPr>
          <p:cNvPr id="11" name="Shape 9"/>
          <p:cNvSpPr/>
          <p:nvPr/>
        </p:nvSpPr>
        <p:spPr>
          <a:xfrm>
            <a:off x="6254496" y="2148840"/>
            <a:ext cx="5477256" cy="1783080"/>
          </a:xfrm>
          <a:prstGeom prst="roundRect">
            <a:avLst>
              <a:gd name="adj" fmla="val 5128"/>
            </a:avLst>
          </a:prstGeom>
          <a:solidFill>
            <a:srgbClr val="FFFFFF"/>
          </a:solidFill>
          <a:ln/>
        </p:spPr>
      </p:sp>
      <p:sp>
        <p:nvSpPr>
          <p:cNvPr id="12" name="Shape 10"/>
          <p:cNvSpPr/>
          <p:nvPr/>
        </p:nvSpPr>
        <p:spPr>
          <a:xfrm>
            <a:off x="6510528" y="2404872"/>
            <a:ext cx="685800" cy="685800"/>
          </a:xfrm>
          <a:prstGeom prst="roundRect">
            <a:avLst>
              <a:gd name="adj" fmla="val 16000"/>
            </a:avLst>
          </a:prstGeom>
          <a:solidFill>
            <a:srgbClr val="1C7293"/>
          </a:solidFill>
          <a:ln/>
        </p:spPr>
      </p:sp>
      <p:sp>
        <p:nvSpPr>
          <p:cNvPr id="13" name="Text 11"/>
          <p:cNvSpPr txBox="1"/>
          <p:nvPr/>
        </p:nvSpPr>
        <p:spPr>
          <a:xfrm>
            <a:off x="6510528" y="2404872"/>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 }</a:t>
            </a:r>
            <a:endParaRPr lang="en-US" sz="1800" dirty="0"/>
          </a:p>
        </p:txBody>
      </p:sp>
      <p:sp>
        <p:nvSpPr>
          <p:cNvPr id="14" name="Text 12"/>
          <p:cNvSpPr txBox="1"/>
          <p:nvPr/>
        </p:nvSpPr>
        <p:spPr>
          <a:xfrm>
            <a:off x="7351776" y="2386584"/>
            <a:ext cx="4151376" cy="365760"/>
          </a:xfrm>
          <a:prstGeom prst="rect">
            <a:avLst/>
          </a:prstGeom>
          <a:noFill/>
          <a:ln/>
        </p:spPr>
        <p:txBody>
          <a:bodyPr wrap="square" lIns="0" tIns="0" rIns="0" bIns="0" rtlCol="0" anchor="ctr"/>
          <a:lstStyle/>
          <a:p>
            <a:pPr indent="0" marL="0">
              <a:buNone/>
            </a:pPr>
            <a:r>
              <a:rPr lang="en-US" sz="1400" b="1" dirty="0">
                <a:solidFill>
                  <a:srgbClr val="0B3D5C"/>
                </a:solidFill>
                <a:latin typeface="Courier New" pitchFamily="34" charset="0"/>
                <a:ea typeface="Courier New" pitchFamily="34" charset="-122"/>
                <a:cs typeface="Courier New" pitchFamily="34" charset="-120"/>
              </a:rPr>
              <a:t>schema.json</a:t>
            </a:r>
            <a:endParaRPr lang="en-US" sz="1400" dirty="0"/>
          </a:p>
        </p:txBody>
      </p:sp>
      <p:sp>
        <p:nvSpPr>
          <p:cNvPr id="15" name="Text 13"/>
          <p:cNvSpPr txBox="1"/>
          <p:nvPr/>
        </p:nvSpPr>
        <p:spPr>
          <a:xfrm>
            <a:off x="7351776" y="2770632"/>
            <a:ext cx="4151376" cy="1005840"/>
          </a:xfrm>
          <a:prstGeom prst="rect">
            <a:avLst/>
          </a:prstGeom>
          <a:noFill/>
          <a:ln/>
        </p:spPr>
        <p:txBody>
          <a:bodyPr wrap="square" lIns="0" tIns="0" rIns="0" bIns="0" rtlCol="0" anchor="ctr"/>
          <a:lstStyle/>
          <a:p>
            <a:pPr indent="0" marL="0">
              <a:lnSpc>
                <a:spcPct val="120000"/>
              </a:lnSpc>
              <a:buNone/>
            </a:pPr>
            <a:r>
              <a:rPr lang="en-US" sz="1130" dirty="0">
                <a:solidFill>
                  <a:srgbClr val="5B6B78"/>
                </a:solidFill>
                <a:latin typeface="Calibri" pitchFamily="34" charset="0"/>
                <a:ea typeface="Calibri" pitchFamily="34" charset="-122"/>
                <a:cs typeface="Calibri" pitchFamily="34" charset="-120"/>
              </a:rPr>
              <a:t>Mô tả cấu trúc dữ liệu đầu vào: 20 feature, kiểu dữ liệu và miền quan sát.</a:t>
            </a:r>
            <a:endParaRPr lang="en-US" sz="1130" dirty="0"/>
          </a:p>
        </p:txBody>
      </p:sp>
      <p:sp>
        <p:nvSpPr>
          <p:cNvPr id="16" name="Shape 14"/>
          <p:cNvSpPr/>
          <p:nvPr/>
        </p:nvSpPr>
        <p:spPr>
          <a:xfrm>
            <a:off x="457200" y="4187952"/>
            <a:ext cx="5477256" cy="1783080"/>
          </a:xfrm>
          <a:prstGeom prst="roundRect">
            <a:avLst>
              <a:gd name="adj" fmla="val 5128"/>
            </a:avLst>
          </a:prstGeom>
          <a:solidFill>
            <a:srgbClr val="FFFFFF"/>
          </a:solidFill>
          <a:ln/>
        </p:spPr>
      </p:sp>
      <p:sp>
        <p:nvSpPr>
          <p:cNvPr id="17" name="Shape 15"/>
          <p:cNvSpPr/>
          <p:nvPr/>
        </p:nvSpPr>
        <p:spPr>
          <a:xfrm>
            <a:off x="713232" y="4443984"/>
            <a:ext cx="685800" cy="685800"/>
          </a:xfrm>
          <a:prstGeom prst="roundRect">
            <a:avLst>
              <a:gd name="adj" fmla="val 16000"/>
            </a:avLst>
          </a:prstGeom>
          <a:solidFill>
            <a:srgbClr val="1C7293"/>
          </a:solidFill>
          <a:ln/>
        </p:spPr>
      </p:sp>
      <p:sp>
        <p:nvSpPr>
          <p:cNvPr id="18" name="Text 16"/>
          <p:cNvSpPr txBox="1"/>
          <p:nvPr/>
        </p:nvSpPr>
        <p:spPr>
          <a:xfrm>
            <a:off x="713232" y="4443984"/>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 }</a:t>
            </a:r>
            <a:endParaRPr lang="en-US" sz="1800" dirty="0"/>
          </a:p>
        </p:txBody>
      </p:sp>
      <p:sp>
        <p:nvSpPr>
          <p:cNvPr id="19" name="Text 17"/>
          <p:cNvSpPr txBox="1"/>
          <p:nvPr/>
        </p:nvSpPr>
        <p:spPr>
          <a:xfrm>
            <a:off x="1554480" y="4425696"/>
            <a:ext cx="4151376" cy="365760"/>
          </a:xfrm>
          <a:prstGeom prst="rect">
            <a:avLst/>
          </a:prstGeom>
          <a:noFill/>
          <a:ln/>
        </p:spPr>
        <p:txBody>
          <a:bodyPr wrap="square" lIns="0" tIns="0" rIns="0" bIns="0" rtlCol="0" anchor="ctr"/>
          <a:lstStyle/>
          <a:p>
            <a:pPr indent="0" marL="0">
              <a:buNone/>
            </a:pPr>
            <a:r>
              <a:rPr lang="en-US" sz="1400" b="1" dirty="0">
                <a:solidFill>
                  <a:srgbClr val="0B3D5C"/>
                </a:solidFill>
                <a:latin typeface="Courier New" pitchFamily="34" charset="0"/>
                <a:ea typeface="Courier New" pitchFamily="34" charset="-122"/>
                <a:cs typeface="Courier New" pitchFamily="34" charset="-120"/>
              </a:rPr>
              <a:t>metadata.json</a:t>
            </a:r>
            <a:endParaRPr lang="en-US" sz="1400" dirty="0"/>
          </a:p>
        </p:txBody>
      </p:sp>
      <p:sp>
        <p:nvSpPr>
          <p:cNvPr id="20" name="Text 18"/>
          <p:cNvSpPr txBox="1"/>
          <p:nvPr/>
        </p:nvSpPr>
        <p:spPr>
          <a:xfrm>
            <a:off x="1554480" y="4809744"/>
            <a:ext cx="4151376" cy="1005840"/>
          </a:xfrm>
          <a:prstGeom prst="rect">
            <a:avLst/>
          </a:prstGeom>
          <a:noFill/>
          <a:ln/>
        </p:spPr>
        <p:txBody>
          <a:bodyPr wrap="square" lIns="0" tIns="0" rIns="0" bIns="0" rtlCol="0" anchor="ctr"/>
          <a:lstStyle/>
          <a:p>
            <a:pPr indent="0" marL="0">
              <a:lnSpc>
                <a:spcPct val="120000"/>
              </a:lnSpc>
              <a:buNone/>
            </a:pPr>
            <a:r>
              <a:rPr lang="en-US" sz="1130" dirty="0">
                <a:solidFill>
                  <a:srgbClr val="5B6B78"/>
                </a:solidFill>
                <a:latin typeface="Calibri" pitchFamily="34" charset="0"/>
                <a:ea typeface="Calibri" pitchFamily="34" charset="-122"/>
                <a:cs typeface="Calibri" pitchFamily="34" charset="-120"/>
              </a:rPr>
              <a:t>Lưu thông tin mô hình, tham số, các metric đánh giá, cách chia dữ liệu, phiên bản thư viện.</a:t>
            </a:r>
            <a:endParaRPr lang="en-US" sz="1130" dirty="0"/>
          </a:p>
        </p:txBody>
      </p:sp>
      <p:sp>
        <p:nvSpPr>
          <p:cNvPr id="21" name="Shape 19"/>
          <p:cNvSpPr/>
          <p:nvPr/>
        </p:nvSpPr>
        <p:spPr>
          <a:xfrm>
            <a:off x="6254496" y="4187952"/>
            <a:ext cx="5477256" cy="1783080"/>
          </a:xfrm>
          <a:prstGeom prst="roundRect">
            <a:avLst>
              <a:gd name="adj" fmla="val 5128"/>
            </a:avLst>
          </a:prstGeom>
          <a:solidFill>
            <a:srgbClr val="FFFFFF"/>
          </a:solidFill>
          <a:ln/>
        </p:spPr>
      </p:sp>
      <p:sp>
        <p:nvSpPr>
          <p:cNvPr id="22" name="Shape 20"/>
          <p:cNvSpPr/>
          <p:nvPr/>
        </p:nvSpPr>
        <p:spPr>
          <a:xfrm>
            <a:off x="6510528" y="4443984"/>
            <a:ext cx="685800" cy="685800"/>
          </a:xfrm>
          <a:prstGeom prst="roundRect">
            <a:avLst>
              <a:gd name="adj" fmla="val 16000"/>
            </a:avLst>
          </a:prstGeom>
          <a:solidFill>
            <a:srgbClr val="1C7293"/>
          </a:solidFill>
          <a:ln/>
        </p:spPr>
      </p:sp>
      <p:sp>
        <p:nvSpPr>
          <p:cNvPr id="23" name="Text 21"/>
          <p:cNvSpPr txBox="1"/>
          <p:nvPr/>
        </p:nvSpPr>
        <p:spPr>
          <a:xfrm>
            <a:off x="6510528" y="4443984"/>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 }</a:t>
            </a:r>
            <a:endParaRPr lang="en-US" sz="1800" dirty="0"/>
          </a:p>
        </p:txBody>
      </p:sp>
      <p:sp>
        <p:nvSpPr>
          <p:cNvPr id="24" name="Text 22"/>
          <p:cNvSpPr txBox="1"/>
          <p:nvPr/>
        </p:nvSpPr>
        <p:spPr>
          <a:xfrm>
            <a:off x="7351776" y="4425696"/>
            <a:ext cx="4151376" cy="365760"/>
          </a:xfrm>
          <a:prstGeom prst="rect">
            <a:avLst/>
          </a:prstGeom>
          <a:noFill/>
          <a:ln/>
        </p:spPr>
        <p:txBody>
          <a:bodyPr wrap="square" lIns="0" tIns="0" rIns="0" bIns="0" rtlCol="0" anchor="ctr"/>
          <a:lstStyle/>
          <a:p>
            <a:pPr indent="0" marL="0">
              <a:buNone/>
            </a:pPr>
            <a:r>
              <a:rPr lang="en-US" sz="1400" b="1" dirty="0">
                <a:solidFill>
                  <a:srgbClr val="0B3D5C"/>
                </a:solidFill>
                <a:latin typeface="Courier New" pitchFamily="34" charset="0"/>
                <a:ea typeface="Courier New" pitchFamily="34" charset="-122"/>
                <a:cs typeface="Courier New" pitchFamily="34" charset="-120"/>
              </a:rPr>
              <a:t>model_comparison.csv</a:t>
            </a:r>
            <a:endParaRPr lang="en-US" sz="1400" dirty="0"/>
          </a:p>
        </p:txBody>
      </p:sp>
      <p:sp>
        <p:nvSpPr>
          <p:cNvPr id="25" name="Text 23"/>
          <p:cNvSpPr txBox="1"/>
          <p:nvPr/>
        </p:nvSpPr>
        <p:spPr>
          <a:xfrm>
            <a:off x="7351776" y="4809744"/>
            <a:ext cx="4151376" cy="1005840"/>
          </a:xfrm>
          <a:prstGeom prst="rect">
            <a:avLst/>
          </a:prstGeom>
          <a:noFill/>
          <a:ln/>
        </p:spPr>
        <p:txBody>
          <a:bodyPr wrap="square" lIns="0" tIns="0" rIns="0" bIns="0" rtlCol="0" anchor="ctr"/>
          <a:lstStyle/>
          <a:p>
            <a:pPr indent="0" marL="0">
              <a:lnSpc>
                <a:spcPct val="120000"/>
              </a:lnSpc>
              <a:buNone/>
            </a:pPr>
            <a:r>
              <a:rPr lang="en-US" sz="1130" dirty="0">
                <a:solidFill>
                  <a:srgbClr val="5B6B78"/>
                </a:solidFill>
                <a:latin typeface="Calibri" pitchFamily="34" charset="0"/>
                <a:ea typeface="Calibri" pitchFamily="34" charset="-122"/>
                <a:cs typeface="Calibri" pitchFamily="34" charset="-120"/>
              </a:rPr>
              <a:t>Lưu kết quả so sánh metric holdout test và Cross-Validation của các mô hình.</a:t>
            </a:r>
            <a:endParaRPr lang="en-US" sz="1130" dirty="0"/>
          </a:p>
        </p:txBody>
      </p:sp>
      <p:sp>
        <p:nvSpPr>
          <p:cNvPr id="26" name="Text 24"/>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27" name="Text 2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2743200" cy="329184"/>
          </a:xfrm>
          <a:prstGeom prst="roundRect">
            <a:avLst>
              <a:gd name="adj" fmla="val 22222"/>
            </a:avLst>
          </a:prstGeom>
          <a:solidFill>
            <a:srgbClr val="F3F7FA"/>
          </a:solidFill>
          <a:ln/>
        </p:spPr>
      </p:sp>
      <p:sp>
        <p:nvSpPr>
          <p:cNvPr id="3" name="Text 1"/>
          <p:cNvSpPr txBox="1"/>
          <p:nvPr/>
        </p:nvSpPr>
        <p:spPr>
          <a:xfrm>
            <a:off x="457200" y="384048"/>
            <a:ext cx="2743200" cy="329184"/>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CHƯƠNG 4 · TRIỂN KHAI</a:t>
            </a:r>
            <a:endParaRPr lang="en-US" sz="1100" dirty="0"/>
          </a:p>
        </p:txBody>
      </p:sp>
      <p:sp>
        <p:nvSpPr>
          <p:cNvPr id="4" name="Text 2"/>
          <p:cNvSpPr txBox="1"/>
          <p:nvPr/>
        </p:nvSpPr>
        <p:spPr>
          <a:xfrm>
            <a:off x="457200" y="786384"/>
            <a:ext cx="11247120" cy="640080"/>
          </a:xfrm>
          <a:prstGeom prst="rect">
            <a:avLst/>
          </a:prstGeom>
          <a:noFill/>
          <a:ln/>
        </p:spPr>
        <p:txBody>
          <a:bodyPr wrap="square" lIns="0" tIns="0" rIns="0" bIns="0" rtlCol="0" anchor="ctr"/>
          <a:lstStyle/>
          <a:p>
            <a:pPr algn="l" indent="0" marL="0">
              <a:buNone/>
            </a:pPr>
            <a:r>
              <a:rPr lang="en-US" sz="3000" b="1" dirty="0">
                <a:solidFill>
                  <a:srgbClr val="0B3D5C"/>
                </a:solidFill>
                <a:latin typeface="Cambria" pitchFamily="34" charset="0"/>
                <a:ea typeface="Cambria" pitchFamily="34" charset="-122"/>
                <a:cs typeface="Cambria" pitchFamily="34" charset="-120"/>
              </a:rPr>
              <a:t>Hệ thống MLOps &amp; triển khai sản phẩm</a:t>
            </a:r>
            <a:endParaRPr lang="en-US" sz="3000" dirty="0"/>
          </a:p>
        </p:txBody>
      </p:sp>
      <p:sp>
        <p:nvSpPr>
          <p:cNvPr id="5" name="Text 3"/>
          <p:cNvSpPr txBox="1"/>
          <p:nvPr/>
        </p:nvSpPr>
        <p:spPr>
          <a:xfrm>
            <a:off x="457200" y="1371600"/>
            <a:ext cx="11247120" cy="365760"/>
          </a:xfrm>
          <a:prstGeom prst="rect">
            <a:avLst/>
          </a:prstGeom>
          <a:noFill/>
          <a:ln/>
        </p:spPr>
        <p:txBody>
          <a:bodyPr wrap="square" lIns="0" tIns="0" rIns="0" bIns="0" rtlCol="0" anchor="ctr"/>
          <a:lstStyle/>
          <a:p>
            <a:pPr algn="l" indent="0" marL="0">
              <a:buNone/>
            </a:pPr>
            <a:r>
              <a:rPr lang="en-US" sz="1300" i="1" dirty="0">
                <a:solidFill>
                  <a:srgbClr val="5B6B78"/>
                </a:solidFill>
                <a:latin typeface="Calibri" pitchFamily="34" charset="0"/>
                <a:ea typeface="Calibri" pitchFamily="34" charset="-122"/>
                <a:cs typeface="Calibri" pitchFamily="34" charset="-120"/>
              </a:rPr>
              <a:t>Đóng gói bằng Docker — docker compose up --build -d với 3 container độc lập</a:t>
            </a:r>
            <a:endParaRPr lang="en-US" sz="1300" dirty="0"/>
          </a:p>
        </p:txBody>
      </p:sp>
      <p:sp>
        <p:nvSpPr>
          <p:cNvPr id="6" name="Shape 4"/>
          <p:cNvSpPr/>
          <p:nvPr/>
        </p:nvSpPr>
        <p:spPr>
          <a:xfrm>
            <a:off x="457200" y="1965960"/>
            <a:ext cx="5212080" cy="1234440"/>
          </a:xfrm>
          <a:prstGeom prst="roundRect">
            <a:avLst>
              <a:gd name="adj" fmla="val 5926"/>
            </a:avLst>
          </a:prstGeom>
          <a:solidFill>
            <a:srgbClr val="F3F7FA"/>
          </a:solidFill>
          <a:ln/>
        </p:spPr>
      </p:sp>
      <p:sp>
        <p:nvSpPr>
          <p:cNvPr id="7" name="Shape 5"/>
          <p:cNvSpPr/>
          <p:nvPr/>
        </p:nvSpPr>
        <p:spPr>
          <a:xfrm>
            <a:off x="658368" y="2167128"/>
            <a:ext cx="1234440" cy="384048"/>
          </a:xfrm>
          <a:prstGeom prst="roundRect">
            <a:avLst>
              <a:gd name="adj" fmla="val 50000"/>
            </a:avLst>
          </a:prstGeom>
          <a:solidFill>
            <a:srgbClr val="0B3D5C"/>
          </a:solidFill>
          <a:ln/>
        </p:spPr>
      </p:sp>
      <p:sp>
        <p:nvSpPr>
          <p:cNvPr id="8" name="Text 6"/>
          <p:cNvSpPr txBox="1"/>
          <p:nvPr/>
        </p:nvSpPr>
        <p:spPr>
          <a:xfrm>
            <a:off x="658368" y="2167128"/>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:3000</a:t>
            </a:r>
            <a:endParaRPr lang="en-US" sz="1150" dirty="0"/>
          </a:p>
        </p:txBody>
      </p:sp>
      <p:sp>
        <p:nvSpPr>
          <p:cNvPr id="9" name="Text 7"/>
          <p:cNvSpPr txBox="1"/>
          <p:nvPr/>
        </p:nvSpPr>
        <p:spPr>
          <a:xfrm>
            <a:off x="2057400" y="2093976"/>
            <a:ext cx="3566160" cy="320040"/>
          </a:xfrm>
          <a:prstGeom prst="rect">
            <a:avLst/>
          </a:prstGeom>
          <a:noFill/>
          <a:ln/>
        </p:spPr>
        <p:txBody>
          <a:bodyPr wrap="square" lIns="0" tIns="0" rIns="0" bIns="0"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Frontend</a:t>
            </a:r>
            <a:endParaRPr lang="en-US" sz="1400" dirty="0"/>
          </a:p>
        </p:txBody>
      </p:sp>
      <p:sp>
        <p:nvSpPr>
          <p:cNvPr id="10" name="Text 8"/>
          <p:cNvSpPr txBox="1"/>
          <p:nvPr/>
        </p:nvSpPr>
        <p:spPr>
          <a:xfrm>
            <a:off x="2057400" y="2441448"/>
            <a:ext cx="3566160" cy="658368"/>
          </a:xfrm>
          <a:prstGeom prst="rect">
            <a:avLst/>
          </a:prstGeom>
          <a:noFill/>
          <a:ln/>
        </p:spPr>
        <p:txBody>
          <a:bodyPr wrap="square" lIns="0" tIns="0" rIns="0" bIns="0" rtlCol="0" anchor="ctr"/>
          <a:lstStyle/>
          <a:p>
            <a:pPr indent="0" marL="0">
              <a:lnSpc>
                <a:spcPct val="115000"/>
              </a:lnSpc>
              <a:buNone/>
            </a:pPr>
            <a:r>
              <a:rPr lang="en-US" sz="1080" dirty="0">
                <a:solidFill>
                  <a:srgbClr val="5B6B78"/>
                </a:solidFill>
                <a:latin typeface="Calibri" pitchFamily="34" charset="0"/>
                <a:ea typeface="Calibri" pitchFamily="34" charset="-122"/>
                <a:cs typeface="Calibri" pitchFamily="34" charset="-120"/>
              </a:rPr>
              <a:t>Giao diện Web HTML/CSS, cho phép chọn 1 trong 4 mô hình để so sánh dự đoán.</a:t>
            </a:r>
            <a:endParaRPr lang="en-US" sz="1080" dirty="0"/>
          </a:p>
        </p:txBody>
      </p:sp>
      <p:sp>
        <p:nvSpPr>
          <p:cNvPr id="11" name="Shape 9"/>
          <p:cNvSpPr/>
          <p:nvPr/>
        </p:nvSpPr>
        <p:spPr>
          <a:xfrm>
            <a:off x="457200" y="3364992"/>
            <a:ext cx="5212080" cy="1234440"/>
          </a:xfrm>
          <a:prstGeom prst="roundRect">
            <a:avLst>
              <a:gd name="adj" fmla="val 5926"/>
            </a:avLst>
          </a:prstGeom>
          <a:solidFill>
            <a:srgbClr val="F3F7FA"/>
          </a:solidFill>
          <a:ln/>
        </p:spPr>
      </p:sp>
      <p:sp>
        <p:nvSpPr>
          <p:cNvPr id="12" name="Shape 10"/>
          <p:cNvSpPr/>
          <p:nvPr/>
        </p:nvSpPr>
        <p:spPr>
          <a:xfrm>
            <a:off x="658368" y="3566160"/>
            <a:ext cx="1234440" cy="384048"/>
          </a:xfrm>
          <a:prstGeom prst="roundRect">
            <a:avLst>
              <a:gd name="adj" fmla="val 50000"/>
            </a:avLst>
          </a:prstGeom>
          <a:solidFill>
            <a:srgbClr val="0B3D5C"/>
          </a:solidFill>
          <a:ln/>
        </p:spPr>
      </p:sp>
      <p:sp>
        <p:nvSpPr>
          <p:cNvPr id="13" name="Text 11"/>
          <p:cNvSpPr txBox="1"/>
          <p:nvPr/>
        </p:nvSpPr>
        <p:spPr>
          <a:xfrm>
            <a:off x="658368" y="3566160"/>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:8000</a:t>
            </a:r>
            <a:endParaRPr lang="en-US" sz="1150" dirty="0"/>
          </a:p>
        </p:txBody>
      </p:sp>
      <p:sp>
        <p:nvSpPr>
          <p:cNvPr id="14" name="Text 12"/>
          <p:cNvSpPr txBox="1"/>
          <p:nvPr/>
        </p:nvSpPr>
        <p:spPr>
          <a:xfrm>
            <a:off x="2057400" y="3493008"/>
            <a:ext cx="3566160" cy="320040"/>
          </a:xfrm>
          <a:prstGeom prst="rect">
            <a:avLst/>
          </a:prstGeom>
          <a:noFill/>
          <a:ln/>
        </p:spPr>
        <p:txBody>
          <a:bodyPr wrap="square" lIns="0" tIns="0" rIns="0" bIns="0"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Backend</a:t>
            </a:r>
            <a:endParaRPr lang="en-US" sz="1400" dirty="0"/>
          </a:p>
        </p:txBody>
      </p:sp>
      <p:sp>
        <p:nvSpPr>
          <p:cNvPr id="15" name="Text 13"/>
          <p:cNvSpPr txBox="1"/>
          <p:nvPr/>
        </p:nvSpPr>
        <p:spPr>
          <a:xfrm>
            <a:off x="2057400" y="3840480"/>
            <a:ext cx="3566160" cy="658368"/>
          </a:xfrm>
          <a:prstGeom prst="rect">
            <a:avLst/>
          </a:prstGeom>
          <a:noFill/>
          <a:ln/>
        </p:spPr>
        <p:txBody>
          <a:bodyPr wrap="square" lIns="0" tIns="0" rIns="0" bIns="0" rtlCol="0" anchor="ctr"/>
          <a:lstStyle/>
          <a:p>
            <a:pPr indent="0" marL="0">
              <a:lnSpc>
                <a:spcPct val="115000"/>
              </a:lnSpc>
              <a:buNone/>
            </a:pPr>
            <a:r>
              <a:rPr lang="en-US" sz="1080" dirty="0">
                <a:solidFill>
                  <a:srgbClr val="5B6B78"/>
                </a:solidFill>
                <a:latin typeface="Calibri" pitchFamily="34" charset="0"/>
                <a:ea typeface="Calibri" pitchFamily="34" charset="-122"/>
                <a:cs typeface="Calibri" pitchFamily="34" charset="-120"/>
              </a:rPr>
              <a:t>FastAPI Gateway — validate dữ liệu theo schema.json, sinh request_id tracing, ghi log.</a:t>
            </a:r>
            <a:endParaRPr lang="en-US" sz="1080" dirty="0"/>
          </a:p>
        </p:txBody>
      </p:sp>
      <p:sp>
        <p:nvSpPr>
          <p:cNvPr id="16" name="Shape 14"/>
          <p:cNvSpPr/>
          <p:nvPr/>
        </p:nvSpPr>
        <p:spPr>
          <a:xfrm>
            <a:off x="457200" y="4764024"/>
            <a:ext cx="5212080" cy="1234440"/>
          </a:xfrm>
          <a:prstGeom prst="roundRect">
            <a:avLst>
              <a:gd name="adj" fmla="val 5926"/>
            </a:avLst>
          </a:prstGeom>
          <a:solidFill>
            <a:srgbClr val="F3F7FA"/>
          </a:solidFill>
          <a:ln/>
        </p:spPr>
      </p:sp>
      <p:sp>
        <p:nvSpPr>
          <p:cNvPr id="17" name="Shape 15"/>
          <p:cNvSpPr/>
          <p:nvPr/>
        </p:nvSpPr>
        <p:spPr>
          <a:xfrm>
            <a:off x="658368" y="4965192"/>
            <a:ext cx="1234440" cy="384048"/>
          </a:xfrm>
          <a:prstGeom prst="roundRect">
            <a:avLst>
              <a:gd name="adj" fmla="val 50000"/>
            </a:avLst>
          </a:prstGeom>
          <a:solidFill>
            <a:srgbClr val="0B3D5C"/>
          </a:solidFill>
          <a:ln/>
        </p:spPr>
      </p:sp>
      <p:sp>
        <p:nvSpPr>
          <p:cNvPr id="18" name="Text 16"/>
          <p:cNvSpPr txBox="1"/>
          <p:nvPr/>
        </p:nvSpPr>
        <p:spPr>
          <a:xfrm>
            <a:off x="658368" y="4965192"/>
            <a:ext cx="123444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:8001</a:t>
            </a:r>
            <a:endParaRPr lang="en-US" sz="1150" dirty="0"/>
          </a:p>
        </p:txBody>
      </p:sp>
      <p:sp>
        <p:nvSpPr>
          <p:cNvPr id="19" name="Text 17"/>
          <p:cNvSpPr txBox="1"/>
          <p:nvPr/>
        </p:nvSpPr>
        <p:spPr>
          <a:xfrm>
            <a:off x="2057400" y="4892040"/>
            <a:ext cx="3566160" cy="320040"/>
          </a:xfrm>
          <a:prstGeom prst="rect">
            <a:avLst/>
          </a:prstGeom>
          <a:noFill/>
          <a:ln/>
        </p:spPr>
        <p:txBody>
          <a:bodyPr wrap="square" lIns="0" tIns="0" rIns="0" bIns="0" rtlCol="0" anchor="ctr"/>
          <a:lstStyle/>
          <a:p>
            <a:pPr indent="0" marL="0">
              <a:buNone/>
            </a:pPr>
            <a:r>
              <a:rPr lang="en-US" sz="1400" b="1" dirty="0">
                <a:solidFill>
                  <a:srgbClr val="0B3D5C"/>
                </a:solidFill>
                <a:latin typeface="Calibri" pitchFamily="34" charset="0"/>
                <a:ea typeface="Calibri" pitchFamily="34" charset="-122"/>
                <a:cs typeface="Calibri" pitchFamily="34" charset="-120"/>
              </a:rPr>
              <a:t>AI Service</a:t>
            </a:r>
            <a:endParaRPr lang="en-US" sz="1400" dirty="0"/>
          </a:p>
        </p:txBody>
      </p:sp>
      <p:sp>
        <p:nvSpPr>
          <p:cNvPr id="20" name="Text 18"/>
          <p:cNvSpPr txBox="1"/>
          <p:nvPr/>
        </p:nvSpPr>
        <p:spPr>
          <a:xfrm>
            <a:off x="2057400" y="5239512"/>
            <a:ext cx="3566160" cy="658368"/>
          </a:xfrm>
          <a:prstGeom prst="rect">
            <a:avLst/>
          </a:prstGeom>
          <a:noFill/>
          <a:ln/>
        </p:spPr>
        <p:txBody>
          <a:bodyPr wrap="square" lIns="0" tIns="0" rIns="0" bIns="0" rtlCol="0" anchor="ctr"/>
          <a:lstStyle/>
          <a:p>
            <a:pPr indent="0" marL="0">
              <a:lnSpc>
                <a:spcPct val="115000"/>
              </a:lnSpc>
              <a:buNone/>
            </a:pPr>
            <a:r>
              <a:rPr lang="en-US" sz="1080" dirty="0">
                <a:solidFill>
                  <a:srgbClr val="5B6B78"/>
                </a:solidFill>
                <a:latin typeface="Calibri" pitchFamily="34" charset="0"/>
                <a:ea typeface="Calibri" pitchFamily="34" charset="-122"/>
                <a:cs typeface="Calibri" pitchFamily="34" charset="-120"/>
              </a:rPr>
              <a:t>FastAPI Engine — nạp sẵn 4 file .joblib khi khởi động, độ trễ phản hồi &lt; 20ms.</a:t>
            </a:r>
            <a:endParaRPr lang="en-US" sz="1080" dirty="0"/>
          </a:p>
        </p:txBody>
      </p:sp>
      <p:sp>
        <p:nvSpPr>
          <p:cNvPr id="21" name="Text 19"/>
          <p:cNvSpPr txBox="1"/>
          <p:nvPr/>
        </p:nvSpPr>
        <p:spPr>
          <a:xfrm>
            <a:off x="457200" y="5806440"/>
            <a:ext cx="5212080" cy="640080"/>
          </a:xfrm>
          <a:prstGeom prst="rect">
            <a:avLst/>
          </a:prstGeom>
          <a:noFill/>
          <a:ln/>
        </p:spPr>
        <p:txBody>
          <a:bodyPr wrap="square" lIns="0" tIns="0" rIns="0" bIns="0"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API /api/predict:  </a:t>
            </a:r>
            <a:pPr indent="0" marL="0">
              <a:lnSpc>
                <a:spcPct val="115000"/>
              </a:lnSpc>
              <a:buNone/>
            </a:pPr>
            <a:r>
              <a:rPr lang="en-US" sz="1100" dirty="0">
                <a:solidFill>
                  <a:srgbClr val="1F2937"/>
                </a:solidFill>
                <a:latin typeface="Calibri" pitchFamily="34" charset="0"/>
                <a:ea typeface="Calibri" pitchFamily="34" charset="-122"/>
                <a:cs typeface="Calibri" pitchFamily="34" charset="-120"/>
              </a:rPr>
              <a:t>người dùng nhập thông tin khách hàng trên giao diện, gửi yêu cầu dự đoán và nhận kết quả trực tuyến.</a:t>
            </a:r>
            <a:endParaRPr lang="en-US" sz="1100" dirty="0"/>
          </a:p>
        </p:txBody>
      </p:sp>
      <p:sp>
        <p:nvSpPr>
          <p:cNvPr id="22" name="Shape 20"/>
          <p:cNvSpPr/>
          <p:nvPr/>
        </p:nvSpPr>
        <p:spPr>
          <a:xfrm>
            <a:off x="5989320" y="1965960"/>
            <a:ext cx="5742432" cy="4224528"/>
          </a:xfrm>
          <a:prstGeom prst="roundRect">
            <a:avLst>
              <a:gd name="adj" fmla="val 1732"/>
            </a:avLst>
          </a:prstGeom>
          <a:solidFill>
            <a:srgbClr val="F3F7FA"/>
          </a:solidFill>
          <a:ln/>
        </p:spPr>
      </p:sp>
      <p:pic>
        <p:nvPicPr>
          <p:cNvPr id="23" name="Image 0" descr="assets/frontend_ui.png">    </p:cNvPr>
          <p:cNvPicPr>
            <a:picLocks noChangeAspect="1"/>
          </p:cNvPicPr>
          <p:nvPr/>
        </p:nvPicPr>
        <p:blipFill>
          <a:blip r:embed="rId1"/>
          <a:stretch>
            <a:fillRect/>
          </a:stretch>
        </p:blipFill>
        <p:spPr>
          <a:xfrm>
            <a:off x="6126480" y="2103120"/>
            <a:ext cx="5468112" cy="3291840"/>
          </a:xfrm>
          <a:prstGeom prst="rect">
            <a:avLst/>
          </a:prstGeom>
        </p:spPr>
      </p:pic>
      <p:sp>
        <p:nvSpPr>
          <p:cNvPr id="24" name="Text 21"/>
          <p:cNvSpPr txBox="1"/>
          <p:nvPr/>
        </p:nvSpPr>
        <p:spPr>
          <a:xfrm>
            <a:off x="6126480" y="5486400"/>
            <a:ext cx="5468112" cy="594360"/>
          </a:xfrm>
          <a:prstGeom prst="rect">
            <a:avLst/>
          </a:prstGeom>
          <a:noFill/>
          <a:ln/>
        </p:spPr>
        <p:txBody>
          <a:bodyPr wrap="square" lIns="0" tIns="0" rIns="0" bIns="0" rtlCol="0" anchor="ctr"/>
          <a:lstStyle/>
          <a:p>
            <a:pPr algn="ctr" indent="0" marL="0">
              <a:lnSpc>
                <a:spcPct val="110000"/>
              </a:lnSpc>
              <a:buNone/>
            </a:pPr>
            <a:r>
              <a:rPr lang="en-US" sz="1000" i="1" dirty="0">
                <a:solidFill>
                  <a:srgbClr val="5B6B78"/>
                </a:solidFill>
                <a:latin typeface="Calibri" pitchFamily="34" charset="0"/>
                <a:ea typeface="Calibri" pitchFamily="34" charset="-122"/>
                <a:cs typeface="Calibri" pitchFamily="34" charset="-120"/>
              </a:rPr>
              <a:t>Hình 6: Giao diện ứng dụng Web thực tế của hệ thống dự đoán khách hàng có khả năng rời mạng</a:t>
            </a:r>
            <a:endParaRPr lang="en-US" sz="1000" dirty="0"/>
          </a:p>
        </p:txBody>
      </p:sp>
      <p:sp>
        <p:nvSpPr>
          <p:cNvPr id="25" name="Text 22"/>
          <p:cNvSpPr txBox="1"/>
          <p:nvPr/>
        </p:nvSpPr>
        <p:spPr>
          <a:xfrm>
            <a:off x="457200" y="6492240"/>
            <a:ext cx="8229600" cy="274320"/>
          </a:xfrm>
          <a:prstGeom prst="rect">
            <a:avLst/>
          </a:prstGeom>
          <a:noFill/>
          <a:ln/>
        </p:spPr>
        <p:txBody>
          <a:bodyPr wrap="square" lIns="0" tIns="0" rIns="0" bIns="0"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HỌC MÁY CƠ BẢN  •  DỰ ĐOÁN KHÁCH HÀNG RỜI BỎ NHÀ MẠNG</a:t>
            </a:r>
            <a:endParaRPr lang="en-US" sz="900" dirty="0"/>
          </a:p>
        </p:txBody>
      </p:sp>
      <p:sp>
        <p:nvSpPr>
          <p:cNvPr id="26" name="Text 23"/>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D5C"/>
        </a:solidFill>
      </p:bgPr>
    </p:bg>
    <p:spTree>
      <p:nvGrpSpPr>
        <p:cNvPr id="1" name=""/>
        <p:cNvGrpSpPr/>
        <p:nvPr/>
      </p:nvGrpSpPr>
      <p:grpSpPr>
        <a:xfrm>
          <a:off x="0" y="0"/>
          <a:ext cx="0" cy="0"/>
          <a:chOff x="0" y="0"/>
          <a:chExt cx="0" cy="0"/>
        </a:xfrm>
      </p:grpSpPr>
      <p:sp>
        <p:nvSpPr>
          <p:cNvPr id="2" name="Shape 0"/>
          <p:cNvSpPr/>
          <p:nvPr/>
        </p:nvSpPr>
        <p:spPr>
          <a:xfrm>
            <a:off x="-2286000" y="4206240"/>
            <a:ext cx="5486400" cy="5486400"/>
          </a:xfrm>
          <a:prstGeom prst="ellipse">
            <a:avLst/>
          </a:prstGeom>
          <a:solidFill>
            <a:srgbClr val="1C7293">
              <a:alpha val="18000"/>
            </a:srgbClr>
          </a:solidFill>
          <a:ln/>
        </p:spPr>
      </p:sp>
      <p:sp>
        <p:nvSpPr>
          <p:cNvPr id="3" name="Text 1"/>
          <p:cNvSpPr txBox="1"/>
          <p:nvPr/>
        </p:nvSpPr>
        <p:spPr>
          <a:xfrm>
            <a:off x="548640" y="502920"/>
            <a:ext cx="5486400" cy="457200"/>
          </a:xfrm>
          <a:prstGeom prst="rect">
            <a:avLst/>
          </a:prstGeom>
          <a:noFill/>
          <a:ln/>
        </p:spPr>
        <p:txBody>
          <a:bodyPr wrap="square" lIns="0" tIns="0" rIns="0" bIns="0" rtlCol="0" anchor="ctr"/>
          <a:lstStyle/>
          <a:p>
            <a:pPr indent="0" marL="0">
              <a:buNone/>
            </a:pPr>
            <a:r>
              <a:rPr lang="en-US" sz="1300" b="1" spc="200" kern="0" dirty="0">
                <a:solidFill>
                  <a:srgbClr val="9FD7E8"/>
                </a:solidFill>
                <a:latin typeface="Calibri" pitchFamily="34" charset="0"/>
                <a:ea typeface="Calibri" pitchFamily="34" charset="-122"/>
                <a:cs typeface="Calibri" pitchFamily="34" charset="-120"/>
              </a:rPr>
              <a:t>KẾT LUẬN</a:t>
            </a:r>
            <a:endParaRPr lang="en-US" sz="1300" dirty="0"/>
          </a:p>
        </p:txBody>
      </p:sp>
      <p:sp>
        <p:nvSpPr>
          <p:cNvPr id="4" name="Text 2"/>
          <p:cNvSpPr txBox="1"/>
          <p:nvPr/>
        </p:nvSpPr>
        <p:spPr>
          <a:xfrm>
            <a:off x="548640" y="86868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Tổng kết đề tài</a:t>
            </a:r>
            <a:endParaRPr lang="en-US" sz="3000" dirty="0"/>
          </a:p>
        </p:txBody>
      </p:sp>
      <p:sp>
        <p:nvSpPr>
          <p:cNvPr id="5" name="Shape 3"/>
          <p:cNvSpPr/>
          <p:nvPr/>
        </p:nvSpPr>
        <p:spPr>
          <a:xfrm>
            <a:off x="548640" y="1874520"/>
            <a:ext cx="3575304" cy="4206240"/>
          </a:xfrm>
          <a:prstGeom prst="roundRect">
            <a:avLst>
              <a:gd name="adj" fmla="val 2558"/>
            </a:avLst>
          </a:prstGeom>
          <a:solidFill>
            <a:srgbClr val="0F4C70"/>
          </a:solidFill>
          <a:ln/>
        </p:spPr>
      </p:sp>
      <p:sp>
        <p:nvSpPr>
          <p:cNvPr id="6" name="Shape 4"/>
          <p:cNvSpPr/>
          <p:nvPr/>
        </p:nvSpPr>
        <p:spPr>
          <a:xfrm>
            <a:off x="822960" y="2148840"/>
            <a:ext cx="457200" cy="457200"/>
          </a:xfrm>
          <a:prstGeom prst="ellipse">
            <a:avLst/>
          </a:prstGeom>
          <a:solidFill>
            <a:srgbClr val="1C7293"/>
          </a:solidFill>
          <a:ln/>
        </p:spPr>
      </p:sp>
      <p:sp>
        <p:nvSpPr>
          <p:cNvPr id="7" name="Text 5"/>
          <p:cNvSpPr txBox="1"/>
          <p:nvPr/>
        </p:nvSpPr>
        <p:spPr>
          <a:xfrm>
            <a:off x="822960" y="2148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822960" y="2788920"/>
            <a:ext cx="3026664" cy="45720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Kết quả đạt được</a:t>
            </a:r>
            <a:endParaRPr lang="en-US" sz="1650" dirty="0"/>
          </a:p>
        </p:txBody>
      </p:sp>
      <p:sp>
        <p:nvSpPr>
          <p:cNvPr id="9" name="Text 7"/>
          <p:cNvSpPr txBox="1"/>
          <p:nvPr/>
        </p:nvSpPr>
        <p:spPr>
          <a:xfrm>
            <a:off x="822960" y="3291840"/>
            <a:ext cx="3026664" cy="256032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Xây dựng thành công quy trình phân loại khách hàng Churn trên tập Telco Customer Churn: tiền xử lý, EDA, huấn luyện &amp; so sánh 4 mô hình (KNN, Naive Bayes, Decision Tree, Logistic Regression).</a:t>
            </a:r>
            <a:endParaRPr lang="en-US" sz="1150" dirty="0"/>
          </a:p>
        </p:txBody>
      </p:sp>
      <p:sp>
        <p:nvSpPr>
          <p:cNvPr id="10" name="Shape 8"/>
          <p:cNvSpPr/>
          <p:nvPr/>
        </p:nvSpPr>
        <p:spPr>
          <a:xfrm>
            <a:off x="4398264" y="1874520"/>
            <a:ext cx="3575304" cy="4206240"/>
          </a:xfrm>
          <a:prstGeom prst="roundRect">
            <a:avLst>
              <a:gd name="adj" fmla="val 2558"/>
            </a:avLst>
          </a:prstGeom>
          <a:solidFill>
            <a:srgbClr val="0F4C70"/>
          </a:solidFill>
          <a:ln/>
        </p:spPr>
      </p:sp>
      <p:sp>
        <p:nvSpPr>
          <p:cNvPr id="11" name="Shape 9"/>
          <p:cNvSpPr/>
          <p:nvPr/>
        </p:nvSpPr>
        <p:spPr>
          <a:xfrm>
            <a:off x="4672584" y="2148840"/>
            <a:ext cx="457200" cy="457200"/>
          </a:xfrm>
          <a:prstGeom prst="ellipse">
            <a:avLst/>
          </a:prstGeom>
          <a:solidFill>
            <a:srgbClr val="E4572E"/>
          </a:solidFill>
          <a:ln/>
        </p:spPr>
      </p:sp>
      <p:sp>
        <p:nvSpPr>
          <p:cNvPr id="12" name="Text 10"/>
          <p:cNvSpPr txBox="1"/>
          <p:nvPr/>
        </p:nvSpPr>
        <p:spPr>
          <a:xfrm>
            <a:off x="4672584" y="2148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4672584" y="2788920"/>
            <a:ext cx="3026664" cy="45720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Hạn chế</a:t>
            </a:r>
            <a:endParaRPr lang="en-US" sz="1650" dirty="0"/>
          </a:p>
        </p:txBody>
      </p:sp>
      <p:sp>
        <p:nvSpPr>
          <p:cNvPr id="14" name="Text 12"/>
          <p:cNvSpPr txBox="1"/>
          <p:nvPr/>
        </p:nvSpPr>
        <p:spPr>
          <a:xfrm>
            <a:off x="4672584" y="3291840"/>
            <a:ext cx="3026664" cy="256032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Dữ liệu chưa đại diện hoàn toàn đa dạng thực tế; chưa phân tích sâu nguyên nhân rời mạng; hệ thống chưa tích hợp dữ liệu thời gian thực và lưu lịch sử dự đoán.</a:t>
            </a:r>
            <a:endParaRPr lang="en-US" sz="1150" dirty="0"/>
          </a:p>
        </p:txBody>
      </p:sp>
      <p:sp>
        <p:nvSpPr>
          <p:cNvPr id="15" name="Shape 13"/>
          <p:cNvSpPr/>
          <p:nvPr/>
        </p:nvSpPr>
        <p:spPr>
          <a:xfrm>
            <a:off x="8247888" y="1874520"/>
            <a:ext cx="3575304" cy="4206240"/>
          </a:xfrm>
          <a:prstGeom prst="roundRect">
            <a:avLst>
              <a:gd name="adj" fmla="val 2558"/>
            </a:avLst>
          </a:prstGeom>
          <a:solidFill>
            <a:srgbClr val="0F4C70"/>
          </a:solidFill>
          <a:ln/>
        </p:spPr>
      </p:sp>
      <p:sp>
        <p:nvSpPr>
          <p:cNvPr id="16" name="Shape 14"/>
          <p:cNvSpPr/>
          <p:nvPr/>
        </p:nvSpPr>
        <p:spPr>
          <a:xfrm>
            <a:off x="8522208" y="2148840"/>
            <a:ext cx="457200" cy="457200"/>
          </a:xfrm>
          <a:prstGeom prst="ellipse">
            <a:avLst/>
          </a:prstGeom>
          <a:solidFill>
            <a:srgbClr val="9FD7E8"/>
          </a:solidFill>
          <a:ln/>
        </p:spPr>
      </p:sp>
      <p:sp>
        <p:nvSpPr>
          <p:cNvPr id="17" name="Text 15"/>
          <p:cNvSpPr txBox="1"/>
          <p:nvPr/>
        </p:nvSpPr>
        <p:spPr>
          <a:xfrm>
            <a:off x="8522208" y="2148840"/>
            <a:ext cx="457200" cy="457200"/>
          </a:xfrm>
          <a:prstGeom prst="rect">
            <a:avLst/>
          </a:prstGeom>
          <a:noFill/>
          <a:ln/>
        </p:spPr>
        <p:txBody>
          <a:bodyPr wrap="square" lIns="0" tIns="0" rIns="0" bIns="0" rtlCol="0" anchor="ctr"/>
          <a:lstStyle/>
          <a:p>
            <a:pPr algn="ctr" indent="0" marL="0">
              <a:buNone/>
            </a:pPr>
            <a:r>
              <a:rPr lang="en-US" sz="1600" b="1" dirty="0">
                <a:solidFill>
                  <a:srgbClr val="0B3D5C"/>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8522208" y="2788920"/>
            <a:ext cx="3026664" cy="45720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Hướng phát triển</a:t>
            </a:r>
            <a:endParaRPr lang="en-US" sz="1650" dirty="0"/>
          </a:p>
        </p:txBody>
      </p:sp>
      <p:sp>
        <p:nvSpPr>
          <p:cNvPr id="19" name="Text 17"/>
          <p:cNvSpPr txBox="1"/>
          <p:nvPr/>
        </p:nvSpPr>
        <p:spPr>
          <a:xfrm>
            <a:off x="8522208" y="3291840"/>
            <a:ext cx="3026664" cy="256032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Mở rộng dữ liệu &amp; thuộc tính hành vi khách hàng; tối ưu tham số các mô hình; tích hợp MongoDB, Dashboard trực quan và triển khai trên nền tảng Cloud.</a:t>
            </a:r>
            <a:endParaRPr lang="en-US" sz="1150" dirty="0"/>
          </a:p>
        </p:txBody>
      </p:sp>
      <p:sp>
        <p:nvSpPr>
          <p:cNvPr id="20" name="Text 18"/>
          <p:cNvSpPr txBox="1"/>
          <p:nvPr/>
        </p:nvSpPr>
        <p:spPr>
          <a:xfrm>
            <a:off x="548640" y="6263640"/>
            <a:ext cx="9144000" cy="365760"/>
          </a:xfrm>
          <a:prstGeom prst="rect">
            <a:avLst/>
          </a:prstGeom>
          <a:noFill/>
          <a:ln/>
        </p:spPr>
        <p:txBody>
          <a:bodyPr wrap="square" lIns="0" tIns="0" rIns="0" bIns="0" rtlCol="0" anchor="ctr"/>
          <a:lstStyle/>
          <a:p>
            <a:pPr indent="0" marL="0">
              <a:buNone/>
            </a:pPr>
            <a:r>
              <a:rPr lang="en-US" sz="1300" i="1" dirty="0">
                <a:solidFill>
                  <a:srgbClr val="9FD7E8"/>
                </a:solidFill>
                <a:latin typeface="Calibri" pitchFamily="34" charset="0"/>
                <a:ea typeface="Calibri" pitchFamily="34" charset="-122"/>
                <a:cs typeface="Calibri" pitchFamily="34" charset="-120"/>
              </a:rPr>
              <a:t>Cảm ơn thầy/cô và các bạn đã theo dõi!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2026-09-27T15:15:42Z</dcterms:created>
  <dcterms:modified xsi:type="dcterms:W3CDTF">2026-09-27T15:15:42Z</dcterms:modified>
</cp:coreProperties>
</file>